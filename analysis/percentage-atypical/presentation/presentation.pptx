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8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2"/>
    <p:restoredTop sz="94648"/>
  </p:normalViewPr>
  <p:slideViewPr>
    <p:cSldViewPr snapToGrid="0">
      <p:cViewPr varScale="1">
        <p:scale>
          <a:sx n="107" d="100"/>
          <a:sy n="107" d="100"/>
        </p:scale>
        <p:origin x="4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B44FB-FB62-2449-ADBC-262A8BAF7222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AB91C-8D1F-984D-A0C8-3A45A9276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11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BE0-0A63-F940-A646-A77A50EA9CF1}" type="datetime1">
              <a:rPr lang="fr-FR" smtClean="0"/>
              <a:t>31/07/2026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D6ABB25-3F9B-9281-98A7-0E92F665B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26634" y="6575077"/>
            <a:ext cx="6690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  <a:alpha val="41000"/>
                  </a:schemeClr>
                </a:solidFill>
              </a:defRPr>
            </a:lvl1pPr>
          </a:lstStyle>
          <a:p>
            <a:r>
              <a:rPr lang="fr-FR"/>
              <a:t>Credit: @an0wen ; Source: https://github.com/an0wen/ResultadosUNAM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05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0C4D6-E88D-6C46-8B8B-C722C0493492}" type="datetime1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15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B9DE-8A60-194A-9589-CA73C89507EA}" type="datetime1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1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086E-8C56-4147-9761-0D928BE7A4AE}" type="datetime1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57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2F8C-1A78-C54F-AFB9-822AAFBFC298}" type="datetime1">
              <a:rPr lang="fr-FR" smtClean="0"/>
              <a:t>31/07/2026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72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0A77-BA60-4E47-AE59-DFF71D448138}" type="datetime1">
              <a:rPr lang="fr-FR" smtClean="0"/>
              <a:t>31/07/2026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20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4C58-723B-C143-A452-2C985327D948}" type="datetime1">
              <a:rPr lang="fr-FR" smtClean="0"/>
              <a:t>31/07/2026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32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D8D6-FF89-B24D-B71F-D03DFD8CEEA9}" type="datetime1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71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095F-769C-564D-9C0C-382DC71210AC}" type="datetime1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27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D6B9-DCE8-A54F-9479-80C962AA4C8D}" type="datetime1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7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1A821-4BB7-FC41-AB5F-EE93539C6034}" type="datetime1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60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676F9-B266-2143-B909-4A770E5C70F7}" type="datetime1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6634" y="6575077"/>
            <a:ext cx="6690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  <a:alpha val="41000"/>
                  </a:schemeClr>
                </a:solidFill>
              </a:defRPr>
            </a:lvl1pPr>
          </a:lstStyle>
          <a:p>
            <a:r>
              <a:rPr lang="fr-FR"/>
              <a:t>Credit: @an0wen ; Source: https://github.com/an0wen/ResultadosUNAM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375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69411-1E2D-9763-3890-0D600D9A3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034" y="1122363"/>
            <a:ext cx="6673932" cy="2387600"/>
          </a:xfrm>
        </p:spPr>
        <p:txBody>
          <a:bodyPr/>
          <a:lstStyle/>
          <a:p>
            <a:r>
              <a:rPr lang="fr-FR" b="1" dirty="0" err="1">
                <a:solidFill>
                  <a:srgbClr val="C00000"/>
                </a:solidFill>
              </a:rPr>
              <a:t>Catastrophically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great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results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13931E-AAC8-2FBA-00ED-2905A2880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822513"/>
          </a:xfrm>
        </p:spPr>
        <p:txBody>
          <a:bodyPr>
            <a:normAutofit/>
          </a:bodyPr>
          <a:lstStyle/>
          <a:p>
            <a:r>
              <a:rPr lang="fr-FR" dirty="0" err="1"/>
              <a:t>Detailed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of </a:t>
            </a: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happens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the entrance exam</a:t>
            </a:r>
            <a:br>
              <a:rPr lang="fr-FR" dirty="0"/>
            </a:br>
            <a:r>
              <a:rPr lang="fr-FR" dirty="0"/>
              <a:t>to a </a:t>
            </a:r>
            <a:r>
              <a:rPr lang="fr-FR" dirty="0" err="1"/>
              <a:t>prestigious</a:t>
            </a:r>
            <a:r>
              <a:rPr lang="fr-FR" dirty="0"/>
              <a:t> </a:t>
            </a:r>
            <a:r>
              <a:rPr lang="fr-FR" dirty="0" err="1"/>
              <a:t>university</a:t>
            </a:r>
            <a:r>
              <a:rPr lang="fr-FR" dirty="0"/>
              <a:t> </a:t>
            </a:r>
            <a:r>
              <a:rPr lang="fr-FR" b="1" dirty="0" err="1">
                <a:solidFill>
                  <a:srgbClr val="C00000"/>
                </a:solidFill>
              </a:rPr>
              <a:t>remote</a:t>
            </a:r>
            <a:endParaRPr lang="fr-FR" b="1" dirty="0">
              <a:solidFill>
                <a:srgbClr val="C00000"/>
              </a:solidFill>
            </a:endParaRPr>
          </a:p>
          <a:p>
            <a:endParaRPr lang="fr-FR" dirty="0"/>
          </a:p>
          <a:p>
            <a:r>
              <a:rPr lang="fr-FR" dirty="0"/>
              <a:t>With </a:t>
            </a:r>
            <a:r>
              <a:rPr lang="fr-FR" dirty="0" err="1"/>
              <a:t>beautiful</a:t>
            </a:r>
            <a:r>
              <a:rPr lang="fr-FR" dirty="0"/>
              <a:t> plots </a:t>
            </a:r>
            <a:r>
              <a:rPr lang="fr-FR" dirty="0">
                <a:sym typeface="Wingdings" pitchFamily="2" charset="2"/>
              </a:rPr>
              <a:t>:-)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9CB382-63F7-17F3-EA6C-BD0906348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673" y="6550220"/>
            <a:ext cx="5062654" cy="365125"/>
          </a:xfrm>
        </p:spPr>
        <p:txBody>
          <a:bodyPr/>
          <a:lstStyle/>
          <a:p>
            <a:r>
              <a:rPr lang="fr-FR" dirty="0"/>
              <a:t>Credit: @an0wen ; Source: https://</a:t>
            </a:r>
            <a:r>
              <a:rPr lang="fr-FR" dirty="0" err="1"/>
              <a:t>github.com</a:t>
            </a:r>
            <a:r>
              <a:rPr lang="fr-FR" dirty="0"/>
              <a:t>/an0wen/</a:t>
            </a:r>
            <a:r>
              <a:rPr lang="fr-FR" dirty="0" err="1"/>
              <a:t>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2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9975D-5BE1-B278-F6B7-2DF9FD18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Context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AC97F8-766F-A88A-CA6B-6A9E01BBE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0" y="1825625"/>
            <a:ext cx="8360228" cy="4351338"/>
          </a:xfrm>
        </p:spPr>
        <p:txBody>
          <a:bodyPr>
            <a:normAutofit/>
          </a:bodyPr>
          <a:lstStyle/>
          <a:p>
            <a:r>
              <a:rPr lang="fr-FR" u="sng" dirty="0" err="1"/>
              <a:t>What</a:t>
            </a:r>
            <a:r>
              <a:rPr lang="fr-FR" u="sng" dirty="0"/>
              <a:t>? </a:t>
            </a:r>
            <a:br>
              <a:rPr lang="fr-FR" dirty="0"/>
            </a:br>
            <a:r>
              <a:rPr lang="fr-FR" dirty="0"/>
              <a:t>Entrance exam to </a:t>
            </a:r>
            <a:r>
              <a:rPr lang="fr-FR" dirty="0" err="1"/>
              <a:t>licenciatura</a:t>
            </a:r>
            <a:r>
              <a:rPr lang="fr-FR" dirty="0"/>
              <a:t> (</a:t>
            </a:r>
            <a:r>
              <a:rPr lang="fr-FR" dirty="0" err="1"/>
              <a:t>undergrad</a:t>
            </a:r>
            <a:r>
              <a:rPr lang="fr-FR" dirty="0"/>
              <a:t>) at </a:t>
            </a:r>
            <a:r>
              <a:rPr lang="fr-FR" b="1" dirty="0">
                <a:solidFill>
                  <a:srgbClr val="C00000"/>
                </a:solidFill>
              </a:rPr>
              <a:t>UNAM</a:t>
            </a:r>
          </a:p>
          <a:p>
            <a:endParaRPr lang="fr-FR" dirty="0"/>
          </a:p>
          <a:p>
            <a:r>
              <a:rPr lang="fr-FR" u="sng" dirty="0"/>
              <a:t>Why?</a:t>
            </a:r>
            <a:br>
              <a:rPr lang="fr-FR" dirty="0"/>
            </a:br>
            <a:r>
              <a:rPr lang="fr-FR" dirty="0"/>
              <a:t>In-</a:t>
            </a:r>
            <a:r>
              <a:rPr lang="fr-FR" dirty="0" err="1"/>
              <a:t>person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2025. </a:t>
            </a:r>
            <a:r>
              <a:rPr lang="fr-FR" b="1" dirty="0" err="1">
                <a:solidFill>
                  <a:srgbClr val="C00000"/>
                </a:solidFill>
              </a:rPr>
              <a:t>Remote</a:t>
            </a:r>
            <a:r>
              <a:rPr lang="fr-FR" b="1" dirty="0">
                <a:solidFill>
                  <a:srgbClr val="C00000"/>
                </a:solidFill>
              </a:rPr>
              <a:t> in 2026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u="sng" dirty="0" err="1"/>
              <a:t>Who</a:t>
            </a:r>
            <a:r>
              <a:rPr lang="fr-FR" u="sng" dirty="0"/>
              <a:t>?</a:t>
            </a:r>
            <a:br>
              <a:rPr lang="fr-FR" dirty="0"/>
            </a:br>
            <a:r>
              <a:rPr lang="fr-FR" b="1" dirty="0">
                <a:solidFill>
                  <a:srgbClr val="C00000"/>
                </a:solidFill>
              </a:rPr>
              <a:t>167,094 </a:t>
            </a:r>
            <a:r>
              <a:rPr lang="fr-FR" b="1" dirty="0" err="1">
                <a:solidFill>
                  <a:srgbClr val="C00000"/>
                </a:solidFill>
              </a:rPr>
              <a:t>students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dirty="0" err="1"/>
              <a:t>from</a:t>
            </a:r>
            <a:r>
              <a:rPr lang="fr-FR" dirty="0"/>
              <a:t> STEM, </a:t>
            </a:r>
            <a:r>
              <a:rPr lang="fr-FR" dirty="0" err="1"/>
              <a:t>Medical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Social and Human/Art </a:t>
            </a:r>
            <a:r>
              <a:rPr lang="fr-FR" dirty="0" err="1"/>
              <a:t>fields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B59120-9022-D658-9EE6-AAACD1A8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5073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8D808B-5F99-7274-5BD4-EB740B7A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D4DFFE-7FA1-278A-46E0-AF2A81BB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9786" y="2458517"/>
            <a:ext cx="6410618" cy="411656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E30F24-FA91-4144-FE37-AFF00923E5EC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~22,000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CE2B2C4-5552-E6BA-79CE-AC1FB1E1E15F}"/>
              </a:ext>
            </a:extLst>
          </p:cNvPr>
          <p:cNvSpPr/>
          <p:nvPr/>
        </p:nvSpPr>
        <p:spPr>
          <a:xfrm>
            <a:off x="5854535" y="2719449"/>
            <a:ext cx="1116281" cy="2280063"/>
          </a:xfrm>
          <a:prstGeom prst="ellipse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05ADC61-4E5B-E972-1880-73449F757AEE}"/>
              </a:ext>
            </a:extLst>
          </p:cNvPr>
          <p:cNvSpPr txBox="1"/>
          <p:nvPr/>
        </p:nvSpPr>
        <p:spPr>
          <a:xfrm>
            <a:off x="6970816" y="2838203"/>
            <a:ext cx="2030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Somehow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u="sng" dirty="0" err="1">
                <a:solidFill>
                  <a:schemeClr val="accent6">
                    <a:lumMod val="75000"/>
                  </a:schemeClr>
                </a:solidFill>
              </a:rPr>
              <a:t>better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students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this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year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🤩</a:t>
            </a:r>
          </a:p>
        </p:txBody>
      </p:sp>
    </p:spTree>
    <p:extLst>
      <p:ext uri="{BB962C8B-B14F-4D97-AF65-F5344CB8AC3E}">
        <p14:creationId xmlns:p14="http://schemas.microsoft.com/office/powerpoint/2010/main" val="906659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7E18-DE67-269A-6B5F-E0705320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22188A-98B2-01D3-4C64-7BAF8E58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DB5D98-F6EC-9410-033D-D564810E18B4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~22,000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6EB0A0-8855-6FCA-4EC8-FBC66155E744}"/>
              </a:ext>
            </a:extLst>
          </p:cNvPr>
          <p:cNvSpPr txBox="1"/>
          <p:nvPr/>
        </p:nvSpPr>
        <p:spPr>
          <a:xfrm>
            <a:off x="392298" y="2116866"/>
            <a:ext cx="6424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C00000"/>
                </a:solidFill>
              </a:rPr>
              <a:t>Correction</a:t>
            </a:r>
            <a:r>
              <a:rPr lang="fr-FR" sz="2800" dirty="0">
                <a:solidFill>
                  <a:srgbClr val="C00000"/>
                </a:solidFill>
              </a:rPr>
              <a:t>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8451E3B-BF51-69DC-3ACA-11B6EED9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36"/>
          <a:stretch>
            <a:fillRect/>
          </a:stretch>
        </p:blipFill>
        <p:spPr>
          <a:xfrm>
            <a:off x="392298" y="3568063"/>
            <a:ext cx="7772400" cy="300701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FB898CA-664B-5F91-895D-90C4CEE0F7AA}"/>
              </a:ext>
            </a:extLst>
          </p:cNvPr>
          <p:cNvSpPr txBox="1"/>
          <p:nvPr/>
        </p:nvSpPr>
        <p:spPr>
          <a:xfrm>
            <a:off x="2327564" y="2116866"/>
            <a:ext cx="64241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>
                <a:solidFill>
                  <a:srgbClr val="C00000"/>
                </a:solidFill>
              </a:rPr>
              <a:t>some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students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stayed</a:t>
            </a:r>
            <a:r>
              <a:rPr lang="fr-FR" sz="2800" dirty="0">
                <a:solidFill>
                  <a:srgbClr val="C00000"/>
                </a:solidFill>
              </a:rPr>
              <a:t> the </a:t>
            </a:r>
            <a:r>
              <a:rPr lang="fr-FR" sz="2800" dirty="0" err="1">
                <a:solidFill>
                  <a:srgbClr val="C00000"/>
                </a:solidFill>
              </a:rPr>
              <a:t>same</a:t>
            </a:r>
            <a:endParaRPr lang="fr-FR" sz="2800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>
                <a:solidFill>
                  <a:srgbClr val="C00000"/>
                </a:solidFill>
              </a:rPr>
              <a:t>some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became</a:t>
            </a:r>
            <a:r>
              <a:rPr lang="fr-FR" sz="2800" dirty="0">
                <a:solidFill>
                  <a:srgbClr val="C00000"/>
                </a:solidFill>
              </a:rPr>
              <a:t> expert surgeons</a:t>
            </a:r>
          </a:p>
          <a:p>
            <a:r>
              <a:rPr lang="fr-FR" sz="2000" dirty="0" err="1">
                <a:solidFill>
                  <a:srgbClr val="C00000"/>
                </a:solidFill>
              </a:rPr>
              <a:t>reminder</a:t>
            </a:r>
            <a:r>
              <a:rPr lang="fr-FR" sz="2000" dirty="0">
                <a:solidFill>
                  <a:srgbClr val="C00000"/>
                </a:solidFill>
              </a:rPr>
              <a:t>: </a:t>
            </a:r>
            <a:r>
              <a:rPr lang="fr-FR" sz="2000" dirty="0" err="1">
                <a:solidFill>
                  <a:srgbClr val="C00000"/>
                </a:solidFill>
              </a:rPr>
              <a:t>these</a:t>
            </a:r>
            <a:r>
              <a:rPr lang="fr-FR" sz="2000" dirty="0">
                <a:solidFill>
                  <a:srgbClr val="C00000"/>
                </a:solidFill>
              </a:rPr>
              <a:t> are ~18 </a:t>
            </a:r>
            <a:r>
              <a:rPr lang="fr-FR" sz="2000" dirty="0" err="1">
                <a:solidFill>
                  <a:srgbClr val="C00000"/>
                </a:solidFill>
              </a:rPr>
              <a:t>year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old</a:t>
            </a:r>
            <a:r>
              <a:rPr lang="fr-FR" sz="2000" dirty="0">
                <a:solidFill>
                  <a:srgbClr val="C00000"/>
                </a:solidFill>
              </a:rPr>
              <a:t> high-</a:t>
            </a:r>
            <a:r>
              <a:rPr lang="fr-FR" sz="2000" dirty="0" err="1">
                <a:solidFill>
                  <a:srgbClr val="C00000"/>
                </a:solidFill>
              </a:rPr>
              <a:t>schoolers</a:t>
            </a:r>
            <a:r>
              <a:rPr lang="fr-FR" sz="2000" dirty="0">
                <a:solidFill>
                  <a:srgbClr val="C00000"/>
                </a:solidFill>
              </a:rPr>
              <a:t> 😅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9E92CEC-7A63-E462-D290-2912E9C18094}"/>
              </a:ext>
            </a:extLst>
          </p:cNvPr>
          <p:cNvSpPr/>
          <p:nvPr/>
        </p:nvSpPr>
        <p:spPr>
          <a:xfrm>
            <a:off x="6400801" y="4306727"/>
            <a:ext cx="1876301" cy="1804362"/>
          </a:xfrm>
          <a:prstGeom prst="ellipse">
            <a:avLst/>
          </a:prstGeom>
          <a:solidFill>
            <a:srgbClr val="C00000">
              <a:alpha val="1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8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3194-B55E-B489-4B61-DFC4630A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3C91D-0B59-6EF9-1BFE-ECC44CB6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D8659A-FDF1-17C4-6AC2-B25A40330B09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~22,000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EC3DC5-8CF7-86D0-B6E3-67EAEF7B1F48}"/>
              </a:ext>
            </a:extLst>
          </p:cNvPr>
          <p:cNvSpPr txBox="1"/>
          <p:nvPr/>
        </p:nvSpPr>
        <p:spPr>
          <a:xfrm>
            <a:off x="392297" y="2389999"/>
            <a:ext cx="8169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0070C0"/>
                </a:solidFill>
              </a:rPr>
              <a:t>2 populations model</a:t>
            </a:r>
            <a:r>
              <a:rPr lang="fr-FR" sz="2800" dirty="0">
                <a:solidFill>
                  <a:srgbClr val="0070C0"/>
                </a:solidFill>
              </a:rPr>
              <a:t>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9164606-396A-0BBC-E9CF-876D43597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36"/>
          <a:stretch>
            <a:fillRect/>
          </a:stretch>
        </p:blipFill>
        <p:spPr>
          <a:xfrm>
            <a:off x="392298" y="3568063"/>
            <a:ext cx="7772400" cy="300701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C95F2DE-A90C-7713-A995-D76306F0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71" b="235"/>
          <a:stretch>
            <a:fillRect/>
          </a:stretch>
        </p:blipFill>
        <p:spPr>
          <a:xfrm>
            <a:off x="392298" y="3560253"/>
            <a:ext cx="7772400" cy="301482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30EC378-693F-CB2D-480A-8E83E58D5ACB}"/>
              </a:ext>
            </a:extLst>
          </p:cNvPr>
          <p:cNvSpPr txBox="1"/>
          <p:nvPr/>
        </p:nvSpPr>
        <p:spPr>
          <a:xfrm>
            <a:off x="3740726" y="2389999"/>
            <a:ext cx="4880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normal and « </a:t>
            </a:r>
            <a:r>
              <a:rPr lang="fr-FR" sz="2800" dirty="0" err="1">
                <a:solidFill>
                  <a:srgbClr val="0070C0"/>
                </a:solidFill>
              </a:rPr>
              <a:t>boosted</a:t>
            </a:r>
            <a:r>
              <a:rPr lang="fr-FR" sz="2800" dirty="0">
                <a:solidFill>
                  <a:srgbClr val="0070C0"/>
                </a:solidFill>
              </a:rPr>
              <a:t> »</a:t>
            </a:r>
          </a:p>
          <a:p>
            <a:r>
              <a:rPr lang="fr-FR" sz="2800" dirty="0">
                <a:solidFill>
                  <a:srgbClr val="0070C0"/>
                </a:solidFill>
              </a:rPr>
              <a:t>not </a:t>
            </a:r>
            <a:r>
              <a:rPr lang="fr-FR" sz="2800" dirty="0" err="1">
                <a:solidFill>
                  <a:srgbClr val="0070C0"/>
                </a:solidFill>
              </a:rPr>
              <a:t>perfect</a:t>
            </a:r>
            <a:r>
              <a:rPr lang="fr-FR" sz="2800" dirty="0">
                <a:solidFill>
                  <a:srgbClr val="0070C0"/>
                </a:solidFill>
              </a:rPr>
              <a:t>, but checks out 💯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1F0C09-509A-01AF-3DC1-6574281CBB8A}"/>
              </a:ext>
            </a:extLst>
          </p:cNvPr>
          <p:cNvSpPr txBox="1"/>
          <p:nvPr/>
        </p:nvSpPr>
        <p:spPr>
          <a:xfrm>
            <a:off x="3233576" y="3833893"/>
            <a:ext cx="2947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40% of </a:t>
            </a:r>
            <a:r>
              <a:rPr lang="fr-FR" sz="20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students</a:t>
            </a:r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 have « </a:t>
            </a:r>
            <a:r>
              <a:rPr lang="fr-FR" sz="20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 scores 😬</a:t>
            </a:r>
          </a:p>
        </p:txBody>
      </p:sp>
    </p:spTree>
    <p:extLst>
      <p:ext uri="{BB962C8B-B14F-4D97-AF65-F5344CB8AC3E}">
        <p14:creationId xmlns:p14="http://schemas.microsoft.com/office/powerpoint/2010/main" val="344341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D88F-26BE-101C-DE75-04EB8E96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54AAA3-12DF-F60B-83E7-9823C186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324C3A-3BBA-93F3-8609-E29B0596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9786" y="2458517"/>
            <a:ext cx="6410618" cy="41165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E51929B-F86A-2823-7791-7FCD4A0796FA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~22,000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6E1DE5-578F-4E43-E7D4-2D1EEF4D59A5}"/>
              </a:ext>
            </a:extLst>
          </p:cNvPr>
          <p:cNvSpPr txBox="1"/>
          <p:nvPr/>
        </p:nvSpPr>
        <p:spPr>
          <a:xfrm>
            <a:off x="6720404" y="3277590"/>
            <a:ext cx="20306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0070C0"/>
                </a:solidFill>
              </a:rPr>
              <a:t>Yeah… 😑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9362D35-74B4-607C-96BB-FBCD16242982}"/>
              </a:ext>
            </a:extLst>
          </p:cNvPr>
          <p:cNvSpPr txBox="1"/>
          <p:nvPr/>
        </p:nvSpPr>
        <p:spPr>
          <a:xfrm>
            <a:off x="5423548" y="5008118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rgbClr val="00B050"/>
                </a:solidFill>
                <a:effectLst>
                  <a:glow rad="330233">
                    <a:schemeClr val="bg1"/>
                  </a:glow>
                </a:effectLst>
              </a:rPr>
              <a:t>Expected</a:t>
            </a:r>
            <a:r>
              <a:rPr lang="fr-FR" sz="2800" dirty="0">
                <a:solidFill>
                  <a:srgbClr val="00B050"/>
                </a:solidFill>
                <a:effectLst>
                  <a:glow rad="330233">
                    <a:schemeClr val="bg1"/>
                  </a:glow>
                </a:effectLst>
              </a:rPr>
              <a:t>: 60%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2EB5AB-AA74-9FEB-4373-C3F10CE49A41}"/>
              </a:ext>
            </a:extLst>
          </p:cNvPr>
          <p:cNvSpPr txBox="1"/>
          <p:nvPr/>
        </p:nvSpPr>
        <p:spPr>
          <a:xfrm>
            <a:off x="5423548" y="2233851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« </a:t>
            </a:r>
            <a:r>
              <a:rPr lang="fr-FR" sz="28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»: 40%</a:t>
            </a:r>
          </a:p>
        </p:txBody>
      </p:sp>
    </p:spTree>
    <p:extLst>
      <p:ext uri="{BB962C8B-B14F-4D97-AF65-F5344CB8AC3E}">
        <p14:creationId xmlns:p14="http://schemas.microsoft.com/office/powerpoint/2010/main" val="257034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6E86-17ED-DAB4-52F8-2B149002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B123BE-727C-5B17-AADB-0D7C0729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B3AA1F-17AB-B2A1-19A6-CFC9CC3BE6C0}"/>
              </a:ext>
            </a:extLst>
          </p:cNvPr>
          <p:cNvSpPr txBox="1"/>
          <p:nvPr/>
        </p:nvSpPr>
        <p:spPr>
          <a:xfrm>
            <a:off x="488068" y="882952"/>
            <a:ext cx="701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Same</a:t>
            </a:r>
            <a:r>
              <a:rPr lang="fr-FR" sz="3600" b="1" dirty="0"/>
              <a:t> in all </a:t>
            </a:r>
            <a:r>
              <a:rPr lang="fr-FR" sz="3600" b="1" dirty="0" err="1"/>
              <a:t>fields</a:t>
            </a:r>
            <a:r>
              <a:rPr lang="fr-FR" sz="3600" b="1" dirty="0"/>
              <a:t> </a:t>
            </a:r>
            <a:r>
              <a:rPr lang="fr-FR" altLang="ja-JP" sz="3600" b="1" dirty="0"/>
              <a:t>¯\_(</a:t>
            </a:r>
            <a:r>
              <a:rPr lang="ja-JP" altLang="fr-FR" sz="3600" b="1"/>
              <a:t>ツ</a:t>
            </a:r>
            <a:r>
              <a:rPr lang="fr-FR" altLang="ja-JP" sz="3600" b="1" dirty="0"/>
              <a:t>)_/¯</a:t>
            </a:r>
            <a:endParaRPr lang="fr-FR" sz="3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EF199C-0671-2C1B-C19E-60B8D3F39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5" y="1635972"/>
            <a:ext cx="4939105" cy="49391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F03CF73-53EF-8EE1-0D7D-3BD60AF0BA38}"/>
              </a:ext>
            </a:extLst>
          </p:cNvPr>
          <p:cNvSpPr txBox="1"/>
          <p:nvPr/>
        </p:nvSpPr>
        <p:spPr>
          <a:xfrm>
            <a:off x="488068" y="4662172"/>
            <a:ext cx="2742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0070C0"/>
                </a:solidFill>
              </a:rPr>
              <a:t>Observed</a:t>
            </a:r>
            <a:endParaRPr lang="fr-FR" sz="2000" dirty="0">
              <a:solidFill>
                <a:srgbClr val="0070C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F170A1-E8BA-4FD4-3CCB-4BBE21F3132B}"/>
              </a:ext>
            </a:extLst>
          </p:cNvPr>
          <p:cNvSpPr txBox="1"/>
          <p:nvPr/>
        </p:nvSpPr>
        <p:spPr>
          <a:xfrm rot="19163285">
            <a:off x="3599457" y="4490355"/>
            <a:ext cx="150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rgbClr val="00B050"/>
                </a:solidFill>
                <a:effectLst/>
              </a:rPr>
              <a:t>Expected</a:t>
            </a:r>
            <a:endParaRPr lang="fr-FR" sz="1400" dirty="0">
              <a:solidFill>
                <a:srgbClr val="00B050"/>
              </a:solidFill>
              <a:effectLst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1A83A8-789A-4979-C4AB-EEB16B3FB451}"/>
              </a:ext>
            </a:extLst>
          </p:cNvPr>
          <p:cNvSpPr txBox="1"/>
          <p:nvPr/>
        </p:nvSpPr>
        <p:spPr>
          <a:xfrm>
            <a:off x="725574" y="2484223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« </a:t>
            </a:r>
            <a:r>
              <a:rPr lang="fr-FR" sz="28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AA751F-4734-DA9C-F643-D7744C0BCDD2}"/>
              </a:ext>
            </a:extLst>
          </p:cNvPr>
          <p:cNvSpPr txBox="1"/>
          <p:nvPr/>
        </p:nvSpPr>
        <p:spPr>
          <a:xfrm>
            <a:off x="5533899" y="1653140"/>
            <a:ext cx="2790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Showing</a:t>
            </a:r>
            <a:r>
              <a:rPr lang="fr-FR" sz="1600" dirty="0"/>
              <a:t> </a:t>
            </a:r>
            <a:r>
              <a:rPr lang="fr-FR" sz="1600" dirty="0" err="1"/>
              <a:t>only</a:t>
            </a:r>
            <a:r>
              <a:rPr lang="fr-FR" sz="1600" dirty="0"/>
              <a:t> </a:t>
            </a:r>
            <a:r>
              <a:rPr lang="fr-FR" sz="1600" dirty="0" err="1"/>
              <a:t>fields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N&gt;1000 for </a:t>
            </a:r>
            <a:r>
              <a:rPr lang="fr-FR" sz="1600" dirty="0" err="1"/>
              <a:t>robustness</a:t>
            </a:r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ACD052-B1B4-484F-C472-E200119ACD3B}"/>
              </a:ext>
            </a:extLst>
          </p:cNvPr>
          <p:cNvSpPr txBox="1"/>
          <p:nvPr/>
        </p:nvSpPr>
        <p:spPr>
          <a:xfrm>
            <a:off x="5724055" y="3092512"/>
            <a:ext cx="3240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>
                <a:solidFill>
                  <a:srgbClr val="0070C0"/>
                </a:solidFill>
              </a:rPr>
              <a:t>It’s</a:t>
            </a:r>
            <a:r>
              <a:rPr lang="fr-FR" sz="3200" dirty="0">
                <a:solidFill>
                  <a:srgbClr val="0070C0"/>
                </a:solidFill>
              </a:rPr>
              <a:t> hard to </a:t>
            </a:r>
            <a:r>
              <a:rPr lang="fr-FR" sz="3200" dirty="0" err="1">
                <a:solidFill>
                  <a:srgbClr val="0070C0"/>
                </a:solidFill>
              </a:rPr>
              <a:t>say</a:t>
            </a:r>
            <a:r>
              <a:rPr lang="fr-FR" sz="3200" dirty="0">
                <a:solidFill>
                  <a:srgbClr val="0070C0"/>
                </a:solidFill>
              </a:rPr>
              <a:t> no to </a:t>
            </a:r>
            <a:r>
              <a:rPr lang="fr-FR" sz="3200" b="1" u="sng" dirty="0" err="1">
                <a:solidFill>
                  <a:srgbClr val="0070C0"/>
                </a:solidFill>
              </a:rPr>
              <a:t>improve</a:t>
            </a:r>
            <a:r>
              <a:rPr lang="fr-FR" sz="3200" b="1" u="sng" dirty="0">
                <a:solidFill>
                  <a:srgbClr val="0070C0"/>
                </a:solidFill>
              </a:rPr>
              <a:t> </a:t>
            </a:r>
            <a:r>
              <a:rPr lang="fr-FR" sz="3200" b="1" u="sng" dirty="0" err="1">
                <a:solidFill>
                  <a:srgbClr val="0070C0"/>
                </a:solidFill>
              </a:rPr>
              <a:t>your</a:t>
            </a:r>
            <a:r>
              <a:rPr lang="fr-FR" sz="3200" b="1" u="sng" dirty="0">
                <a:solidFill>
                  <a:srgbClr val="0070C0"/>
                </a:solidFill>
              </a:rPr>
              <a:t> grade by 20% </a:t>
            </a:r>
            <a:r>
              <a:rPr lang="fr-FR" sz="3200" dirty="0">
                <a:solidFill>
                  <a:srgbClr val="0070C0"/>
                </a:solidFill>
              </a:rPr>
              <a:t>😕</a:t>
            </a:r>
          </a:p>
        </p:txBody>
      </p:sp>
    </p:spTree>
    <p:extLst>
      <p:ext uri="{BB962C8B-B14F-4D97-AF65-F5344CB8AC3E}">
        <p14:creationId xmlns:p14="http://schemas.microsoft.com/office/powerpoint/2010/main" val="405291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F45E-68D6-788D-C3FF-D731100A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C7FFC2-C3B8-EB7B-703B-874886F8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0871664-7BBF-3C33-0897-5B15604629EA}"/>
              </a:ext>
            </a:extLst>
          </p:cNvPr>
          <p:cNvSpPr txBox="1"/>
          <p:nvPr/>
        </p:nvSpPr>
        <p:spPr>
          <a:xfrm>
            <a:off x="488068" y="882952"/>
            <a:ext cx="701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Same</a:t>
            </a:r>
            <a:r>
              <a:rPr lang="fr-FR" sz="3600" b="1" dirty="0"/>
              <a:t> in all </a:t>
            </a:r>
            <a:r>
              <a:rPr lang="fr-FR" sz="3600" b="1" dirty="0" err="1"/>
              <a:t>fields</a:t>
            </a:r>
            <a:r>
              <a:rPr lang="fr-FR" sz="3600" b="1" dirty="0"/>
              <a:t> </a:t>
            </a:r>
            <a:r>
              <a:rPr lang="fr-FR" altLang="ja-JP" sz="3600" b="1" dirty="0"/>
              <a:t>¯\_(</a:t>
            </a:r>
            <a:r>
              <a:rPr lang="ja-JP" altLang="fr-FR" sz="3600" b="1"/>
              <a:t>ツ</a:t>
            </a:r>
            <a:r>
              <a:rPr lang="fr-FR" altLang="ja-JP" sz="3600" b="1" dirty="0"/>
              <a:t>)_/¯</a:t>
            </a:r>
            <a:endParaRPr lang="fr-FR" sz="3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58A53B-56E5-F25B-9886-252EBD39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4795" y="1635972"/>
            <a:ext cx="4939105" cy="49391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8FB6FDC-1D90-6F16-96C8-2A45A5235004}"/>
              </a:ext>
            </a:extLst>
          </p:cNvPr>
          <p:cNvSpPr txBox="1"/>
          <p:nvPr/>
        </p:nvSpPr>
        <p:spPr>
          <a:xfrm>
            <a:off x="5608837" y="4635153"/>
            <a:ext cx="3379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0070C0"/>
                </a:solidFill>
                <a:effectLst/>
              </a:rPr>
              <a:t>More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honest</a:t>
            </a:r>
            <a:r>
              <a:rPr lang="fr-FR" sz="2400" dirty="0">
                <a:solidFill>
                  <a:srgbClr val="0070C0"/>
                </a:solidFill>
                <a:effectLst/>
              </a:rPr>
              <a:t> on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average</a:t>
            </a:r>
            <a:r>
              <a:rPr lang="fr-FR" sz="2400" dirty="0">
                <a:solidFill>
                  <a:srgbClr val="0070C0"/>
                </a:solidFill>
                <a:effectLst/>
              </a:rPr>
              <a:t>, but more agressive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individually</a:t>
            </a:r>
            <a:r>
              <a:rPr lang="fr-FR" sz="2400" dirty="0">
                <a:solidFill>
                  <a:srgbClr val="0070C0"/>
                </a:solidFill>
                <a:effectLst/>
              </a:rPr>
              <a:t>? 🤔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A452FE-9728-F7DF-B78B-8D26940BD5AC}"/>
              </a:ext>
            </a:extLst>
          </p:cNvPr>
          <p:cNvSpPr txBox="1"/>
          <p:nvPr/>
        </p:nvSpPr>
        <p:spPr>
          <a:xfrm>
            <a:off x="5764245" y="2510563"/>
            <a:ext cx="2947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rgbClr val="C00000"/>
                </a:solidFill>
                <a:effectLst/>
              </a:rPr>
              <a:t>Almost</a:t>
            </a:r>
            <a:r>
              <a:rPr lang="fr-FR" sz="2800" dirty="0">
                <a:solidFill>
                  <a:srgbClr val="C00000"/>
                </a:solidFill>
                <a:effectLst/>
              </a:rPr>
              <a:t> </a:t>
            </a:r>
            <a:r>
              <a:rPr lang="fr-FR" sz="2800" b="1" u="sng" dirty="0">
                <a:solidFill>
                  <a:srgbClr val="C00000"/>
                </a:solidFill>
                <a:effectLst/>
              </a:rPr>
              <a:t>1 in 2 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students</a:t>
            </a:r>
            <a:r>
              <a:rPr lang="fr-FR" sz="2800" dirty="0">
                <a:solidFill>
                  <a:srgbClr val="C00000"/>
                </a:solidFill>
                <a:effectLst/>
              </a:rPr>
              <a:t> 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had</a:t>
            </a:r>
            <a:r>
              <a:rPr lang="fr-FR" sz="2800" dirty="0">
                <a:solidFill>
                  <a:srgbClr val="C00000"/>
                </a:solidFill>
                <a:effectLst/>
              </a:rPr>
              <a:t> an « 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advantage</a:t>
            </a:r>
            <a:r>
              <a:rPr lang="fr-FR" sz="2800" dirty="0">
                <a:solidFill>
                  <a:srgbClr val="C00000"/>
                </a:solidFill>
                <a:effectLst/>
              </a:rPr>
              <a:t> » 😱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98F438F-6ACC-C578-236A-13D60DD9EB82}"/>
              </a:ext>
            </a:extLst>
          </p:cNvPr>
          <p:cNvSpPr txBox="1"/>
          <p:nvPr/>
        </p:nvSpPr>
        <p:spPr>
          <a:xfrm>
            <a:off x="5533899" y="1653140"/>
            <a:ext cx="2790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Showing</a:t>
            </a:r>
            <a:r>
              <a:rPr lang="fr-FR" sz="1600" dirty="0"/>
              <a:t> </a:t>
            </a:r>
            <a:r>
              <a:rPr lang="fr-FR" sz="1600" dirty="0" err="1"/>
              <a:t>only</a:t>
            </a:r>
            <a:r>
              <a:rPr lang="fr-FR" sz="1600" dirty="0"/>
              <a:t> </a:t>
            </a:r>
            <a:r>
              <a:rPr lang="fr-FR" sz="1600" dirty="0" err="1"/>
              <a:t>fields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N&gt;1000 for </a:t>
            </a:r>
            <a:r>
              <a:rPr lang="fr-FR" sz="1600" dirty="0" err="1"/>
              <a:t>robustness</a:t>
            </a:r>
            <a:endParaRPr lang="fr-FR" sz="1600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4A3A1D91-A55E-57E7-E988-E1F5EFD3FB90}"/>
              </a:ext>
            </a:extLst>
          </p:cNvPr>
          <p:cNvSpPr/>
          <p:nvPr/>
        </p:nvSpPr>
        <p:spPr>
          <a:xfrm>
            <a:off x="2956956" y="2766644"/>
            <a:ext cx="2838202" cy="510946"/>
          </a:xfrm>
          <a:custGeom>
            <a:avLst/>
            <a:gdLst>
              <a:gd name="csX0" fmla="*/ 2838202 w 2838202"/>
              <a:gd name="csY0" fmla="*/ 451569 h 510946"/>
              <a:gd name="csX1" fmla="*/ 1520041 w 2838202"/>
              <a:gd name="csY1" fmla="*/ 307 h 510946"/>
              <a:gd name="csX2" fmla="*/ 0 w 2838202"/>
              <a:gd name="csY2" fmla="*/ 510946 h 510946"/>
              <a:gd name="csX3" fmla="*/ 0 w 2838202"/>
              <a:gd name="csY3" fmla="*/ 510946 h 510946"/>
              <a:gd name="csX4" fmla="*/ 0 w 2838202"/>
              <a:gd name="csY4" fmla="*/ 510946 h 510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38202" h="510946">
                <a:moveTo>
                  <a:pt x="2838202" y="451569"/>
                </a:moveTo>
                <a:cubicBezTo>
                  <a:pt x="2415638" y="220990"/>
                  <a:pt x="1993075" y="-9589"/>
                  <a:pt x="1520041" y="307"/>
                </a:cubicBezTo>
                <a:cubicBezTo>
                  <a:pt x="1047007" y="10203"/>
                  <a:pt x="0" y="510946"/>
                  <a:pt x="0" y="510946"/>
                </a:cubicBezTo>
                <a:lnTo>
                  <a:pt x="0" y="510946"/>
                </a:lnTo>
                <a:lnTo>
                  <a:pt x="0" y="510946"/>
                </a:lnTo>
              </a:path>
            </a:pathLst>
          </a:custGeom>
          <a:noFill/>
          <a:ln w="444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48B5B460-E61D-94B5-5E67-D794D1DE457B}"/>
              </a:ext>
            </a:extLst>
          </p:cNvPr>
          <p:cNvSpPr/>
          <p:nvPr/>
        </p:nvSpPr>
        <p:spPr>
          <a:xfrm>
            <a:off x="3705101" y="4975761"/>
            <a:ext cx="2173185" cy="355507"/>
          </a:xfrm>
          <a:custGeom>
            <a:avLst/>
            <a:gdLst>
              <a:gd name="csX0" fmla="*/ 2173185 w 2173185"/>
              <a:gd name="csY0" fmla="*/ 237507 h 355507"/>
              <a:gd name="csX1" fmla="*/ 1092530 w 2173185"/>
              <a:gd name="csY1" fmla="*/ 344384 h 355507"/>
              <a:gd name="csX2" fmla="*/ 0 w 2173185"/>
              <a:gd name="csY2" fmla="*/ 0 h 355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73185" h="355507">
                <a:moveTo>
                  <a:pt x="2173185" y="237507"/>
                </a:moveTo>
                <a:cubicBezTo>
                  <a:pt x="1813956" y="310737"/>
                  <a:pt x="1454727" y="383968"/>
                  <a:pt x="1092530" y="344384"/>
                </a:cubicBezTo>
                <a:cubicBezTo>
                  <a:pt x="730333" y="304800"/>
                  <a:pt x="365166" y="152400"/>
                  <a:pt x="0" y="0"/>
                </a:cubicBezTo>
              </a:path>
            </a:pathLst>
          </a:custGeom>
          <a:noFill/>
          <a:ln w="44450">
            <a:solidFill>
              <a:srgbClr val="0070C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397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B178B33-54A9-DD59-FDA3-BA903530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Disclaimer(s)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BFC801-163B-69CB-4286-FCFFA69F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merely</a:t>
            </a:r>
            <a:r>
              <a:rPr lang="fr-FR" dirty="0"/>
              <a:t> supports the </a:t>
            </a:r>
            <a:r>
              <a:rPr lang="fr-FR" dirty="0" err="1"/>
              <a:t>idea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are 2 populations, one </a:t>
            </a:r>
            <a:r>
              <a:rPr lang="fr-FR" dirty="0" err="1"/>
              <a:t>having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performance.</a:t>
            </a:r>
          </a:p>
          <a:p>
            <a:r>
              <a:rPr lang="fr-FR" dirty="0"/>
              <a:t>This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anything</a:t>
            </a:r>
            <a:r>
              <a:rPr lang="fr-FR" dirty="0"/>
              <a:t> about </a:t>
            </a:r>
            <a:r>
              <a:rPr lang="fr-FR" i="1" u="sng" dirty="0" err="1"/>
              <a:t>why</a:t>
            </a:r>
            <a:r>
              <a:rPr lang="fr-FR" dirty="0"/>
              <a:t> one population has </a:t>
            </a:r>
            <a:r>
              <a:rPr lang="fr-FR" dirty="0" err="1"/>
              <a:t>better</a:t>
            </a:r>
            <a:r>
              <a:rPr lang="fr-FR" dirty="0"/>
              <a:t> grades.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remote</a:t>
            </a:r>
            <a:r>
              <a:rPr lang="fr-FR" dirty="0"/>
              <a:t> = </a:t>
            </a:r>
            <a:r>
              <a:rPr lang="fr-FR" dirty="0" err="1"/>
              <a:t>less</a:t>
            </a:r>
            <a:r>
              <a:rPr lang="fr-FR" dirty="0"/>
              <a:t> stress = </a:t>
            </a:r>
            <a:r>
              <a:rPr lang="fr-FR" dirty="0" err="1"/>
              <a:t>better</a:t>
            </a:r>
            <a:r>
              <a:rPr lang="fr-FR" dirty="0"/>
              <a:t> grades?)</a:t>
            </a:r>
          </a:p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a model, and not a good one.</a:t>
            </a:r>
          </a:p>
          <a:p>
            <a:r>
              <a:rPr lang="fr-FR" dirty="0"/>
              <a:t>This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 to populations,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anything</a:t>
            </a:r>
            <a:r>
              <a:rPr lang="fr-FR" dirty="0"/>
              <a:t> about </a:t>
            </a:r>
            <a:r>
              <a:rPr lang="fr-FR" dirty="0" err="1"/>
              <a:t>individual</a:t>
            </a:r>
            <a:r>
              <a:rPr lang="fr-FR" dirty="0"/>
              <a:t> performance.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91A9314-70CD-CD82-78A4-E7EFA53B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384696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37D53-5F8B-D951-B90B-B09461A9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(</a:t>
            </a:r>
            <a:r>
              <a:rPr lang="fr-FR" dirty="0" err="1"/>
              <a:t>my</a:t>
            </a:r>
            <a:r>
              <a:rPr lang="fr-FR" dirty="0"/>
              <a:t>) </a:t>
            </a:r>
            <a:r>
              <a:rPr lang="fr-FR" dirty="0" err="1"/>
              <a:t>takeways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E94286-2EA7-E279-7869-29B17B11E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912"/>
            <a:ext cx="7886700" cy="5516088"/>
          </a:xfrm>
        </p:spPr>
        <p:txBody>
          <a:bodyPr>
            <a:normAutofit fontScale="92500" lnSpcReduction="10000"/>
          </a:bodyPr>
          <a:lstStyle/>
          <a:p>
            <a:r>
              <a:rPr lang="fr-FR" sz="1900" dirty="0"/>
              <a:t>UNAM </a:t>
            </a:r>
            <a:r>
              <a:rPr lang="fr-FR" sz="1900" dirty="0" err="1"/>
              <a:t>paid</a:t>
            </a:r>
            <a:r>
              <a:rPr lang="fr-FR" sz="1900" dirty="0"/>
              <a:t> a </a:t>
            </a:r>
            <a:r>
              <a:rPr lang="fr-FR" sz="1900" dirty="0" err="1"/>
              <a:t>huge</a:t>
            </a:r>
            <a:r>
              <a:rPr lang="fr-FR" sz="1900" dirty="0"/>
              <a:t> </a:t>
            </a:r>
            <a:r>
              <a:rPr lang="fr-FR" sz="1900" dirty="0" err="1"/>
              <a:t>price</a:t>
            </a:r>
            <a:r>
              <a:rPr lang="fr-FR" sz="1900" dirty="0"/>
              <a:t> for a </a:t>
            </a:r>
            <a:r>
              <a:rPr lang="fr-FR" sz="1900" dirty="0" err="1"/>
              <a:t>lesson</a:t>
            </a:r>
            <a:r>
              <a:rPr lang="fr-FR" sz="1900" dirty="0"/>
              <a:t> </a:t>
            </a:r>
            <a:r>
              <a:rPr lang="fr-FR" sz="1900" dirty="0" err="1"/>
              <a:t>that</a:t>
            </a:r>
            <a:r>
              <a:rPr lang="fr-FR" sz="1900" dirty="0"/>
              <a:t> </a:t>
            </a:r>
            <a:r>
              <a:rPr lang="fr-FR" sz="1900" dirty="0" err="1"/>
              <a:t>everybody</a:t>
            </a:r>
            <a:r>
              <a:rPr lang="fr-FR" sz="1900" dirty="0"/>
              <a:t> </a:t>
            </a:r>
            <a:r>
              <a:rPr lang="fr-FR" sz="1900" dirty="0" err="1"/>
              <a:t>already</a:t>
            </a:r>
            <a:r>
              <a:rPr lang="fr-FR" sz="1900" dirty="0"/>
              <a:t> </a:t>
            </a:r>
            <a:r>
              <a:rPr lang="fr-FR" sz="1900" dirty="0" err="1"/>
              <a:t>knew</a:t>
            </a:r>
            <a:r>
              <a:rPr lang="fr-FR" sz="1900" dirty="0"/>
              <a:t>. </a:t>
            </a:r>
            <a:r>
              <a:rPr lang="fr-FR" sz="1900" dirty="0" err="1"/>
              <a:t>Anyone</a:t>
            </a:r>
            <a:r>
              <a:rPr lang="fr-FR" sz="1900" dirty="0"/>
              <a:t> </a:t>
            </a:r>
            <a:r>
              <a:rPr lang="fr-FR" sz="1900" dirty="0" err="1"/>
              <a:t>who</a:t>
            </a:r>
            <a:r>
              <a:rPr lang="fr-FR" sz="1900" dirty="0"/>
              <a:t> </a:t>
            </a:r>
            <a:r>
              <a:rPr lang="fr-FR" sz="1900" dirty="0" err="1"/>
              <a:t>was</a:t>
            </a:r>
            <a:r>
              <a:rPr lang="fr-FR" sz="1900" dirty="0"/>
              <a:t> </a:t>
            </a:r>
            <a:r>
              <a:rPr lang="fr-FR" sz="1900" dirty="0" err="1"/>
              <a:t>teaching</a:t>
            </a:r>
            <a:r>
              <a:rPr lang="fr-FR" sz="1900" dirty="0"/>
              <a:t> </a:t>
            </a:r>
            <a:r>
              <a:rPr lang="fr-FR" sz="1900" dirty="0" err="1"/>
              <a:t>during</a:t>
            </a:r>
            <a:r>
              <a:rPr lang="fr-FR" sz="1900" dirty="0"/>
              <a:t> COVID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myself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included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fr-FR" sz="1900" dirty="0"/>
              <a:t> </a:t>
            </a:r>
            <a:r>
              <a:rPr lang="fr-FR" sz="1900" dirty="0" err="1"/>
              <a:t>knows</a:t>
            </a:r>
            <a:r>
              <a:rPr lang="fr-FR" sz="1900" dirty="0"/>
              <a:t> how </a:t>
            </a:r>
            <a:r>
              <a:rPr lang="fr-FR" sz="1900" dirty="0" err="1"/>
              <a:t>desperate</a:t>
            </a:r>
            <a:r>
              <a:rPr lang="fr-FR" sz="1900" dirty="0"/>
              <a:t> </a:t>
            </a:r>
            <a:r>
              <a:rPr lang="fr-FR" sz="1900" dirty="0" err="1"/>
              <a:t>students</a:t>
            </a:r>
            <a:r>
              <a:rPr lang="fr-FR" sz="1900" dirty="0"/>
              <a:t> are to </a:t>
            </a:r>
            <a:r>
              <a:rPr lang="fr-FR" sz="1900" dirty="0" err="1"/>
              <a:t>get</a:t>
            </a:r>
            <a:r>
              <a:rPr lang="fr-FR" sz="1900" dirty="0"/>
              <a:t> good </a:t>
            </a:r>
            <a:r>
              <a:rPr lang="fr-FR" sz="1900" dirty="0" err="1"/>
              <a:t>results</a:t>
            </a:r>
            <a:r>
              <a:rPr lang="fr-FR" sz="1900" dirty="0"/>
              <a:t>.</a:t>
            </a:r>
          </a:p>
          <a:p>
            <a:r>
              <a:rPr lang="fr-FR" sz="1900" dirty="0"/>
              <a:t>People talk about AI, but </a:t>
            </a:r>
            <a:r>
              <a:rPr lang="fr-FR" sz="1900" dirty="0" err="1"/>
              <a:t>cheating</a:t>
            </a:r>
            <a:r>
              <a:rPr lang="fr-FR" sz="1900" dirty="0"/>
              <a:t> </a:t>
            </a:r>
            <a:r>
              <a:rPr lang="fr-FR" sz="1900" dirty="0" err="1"/>
              <a:t>existed</a:t>
            </a:r>
            <a:r>
              <a:rPr lang="fr-FR" sz="1900" dirty="0"/>
              <a:t> </a:t>
            </a:r>
            <a:r>
              <a:rPr lang="fr-FR" sz="1900" dirty="0" err="1"/>
              <a:t>forever</a:t>
            </a:r>
            <a:r>
              <a:rPr lang="fr-FR" sz="1900" dirty="0"/>
              <a:t>. During COVID, </a:t>
            </a:r>
            <a:r>
              <a:rPr lang="fr-FR" sz="1900" dirty="0" err="1"/>
              <a:t>students</a:t>
            </a:r>
            <a:r>
              <a:rPr lang="fr-FR" sz="1900" dirty="0"/>
              <a:t> </a:t>
            </a:r>
            <a:r>
              <a:rPr lang="fr-FR" sz="1900" dirty="0" err="1"/>
              <a:t>were</a:t>
            </a:r>
            <a:r>
              <a:rPr lang="fr-FR" sz="1900" dirty="0"/>
              <a:t> </a:t>
            </a:r>
            <a:r>
              <a:rPr lang="fr-FR" sz="1900" dirty="0" err="1"/>
              <a:t>looking</a:t>
            </a:r>
            <a:r>
              <a:rPr lang="fr-FR" sz="1900" dirty="0"/>
              <a:t> for </a:t>
            </a:r>
            <a:r>
              <a:rPr lang="fr-FR" sz="1900" dirty="0" err="1"/>
              <a:t>private</a:t>
            </a:r>
            <a:r>
              <a:rPr lang="fr-FR" sz="1900" dirty="0"/>
              <a:t> </a:t>
            </a:r>
            <a:r>
              <a:rPr lang="fr-FR" sz="1900" dirty="0" err="1"/>
              <a:t>tutors</a:t>
            </a:r>
            <a:r>
              <a:rPr lang="fr-FR" sz="1900" dirty="0"/>
              <a:t> for </a:t>
            </a:r>
            <a:r>
              <a:rPr lang="fr-FR" sz="1900" i="1" dirty="0"/>
              <a:t>« help on an </a:t>
            </a:r>
            <a:r>
              <a:rPr lang="fr-FR" sz="1900" i="1" dirty="0" err="1"/>
              <a:t>exercise</a:t>
            </a:r>
            <a:r>
              <a:rPr lang="fr-FR" sz="1900" i="1" dirty="0"/>
              <a:t> in </a:t>
            </a:r>
            <a:r>
              <a:rPr lang="fr-FR" sz="1900" i="1" dirty="0" err="1"/>
              <a:t>limited</a:t>
            </a:r>
            <a:r>
              <a:rPr lang="fr-FR" sz="1900" i="1" dirty="0"/>
              <a:t> time »</a:t>
            </a:r>
            <a:r>
              <a:rPr lang="fr-FR" sz="1900" dirty="0"/>
              <a:t>. </a:t>
            </a:r>
            <a:r>
              <a:rPr lang="fr-FR" sz="1900" dirty="0" err="1"/>
              <a:t>Students</a:t>
            </a:r>
            <a:r>
              <a:rPr lang="fr-FR" sz="1900" dirty="0"/>
              <a:t> </a:t>
            </a:r>
            <a:r>
              <a:rPr lang="fr-FR" sz="1900" dirty="0" err="1"/>
              <a:t>from</a:t>
            </a:r>
            <a:r>
              <a:rPr lang="fr-FR" sz="1900" dirty="0"/>
              <a:t> engineering </a:t>
            </a:r>
            <a:r>
              <a:rPr lang="fr-FR" sz="1900" dirty="0" err="1"/>
              <a:t>schools</a:t>
            </a:r>
            <a:r>
              <a:rPr lang="fr-FR" sz="1900" dirty="0"/>
              <a:t> </a:t>
            </a:r>
            <a:r>
              <a:rPr lang="fr-FR" sz="1900" dirty="0" err="1"/>
              <a:t>were</a:t>
            </a:r>
            <a:r>
              <a:rPr lang="fr-FR" sz="1900" dirty="0"/>
              <a:t> </a:t>
            </a:r>
            <a:r>
              <a:rPr lang="fr-FR" sz="1900" dirty="0" err="1"/>
              <a:t>asking</a:t>
            </a:r>
            <a:r>
              <a:rPr lang="fr-FR" sz="1900" dirty="0"/>
              <a:t> me to </a:t>
            </a:r>
            <a:r>
              <a:rPr lang="fr-FR" sz="1900" dirty="0" err="1"/>
              <a:t>take</a:t>
            </a:r>
            <a:r>
              <a:rPr lang="fr-FR" sz="1900" dirty="0"/>
              <a:t> </a:t>
            </a:r>
            <a:r>
              <a:rPr lang="fr-FR" sz="1900" dirty="0" err="1"/>
              <a:t>their</a:t>
            </a:r>
            <a:r>
              <a:rPr lang="fr-FR" sz="1900" dirty="0"/>
              <a:t> online exam for </a:t>
            </a:r>
            <a:r>
              <a:rPr lang="fr-FR" sz="1900" dirty="0" err="1"/>
              <a:t>them</a:t>
            </a:r>
            <a:r>
              <a:rPr lang="fr-FR" sz="1900" dirty="0"/>
              <a:t>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it’s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not a joke)</a:t>
            </a:r>
            <a:r>
              <a:rPr lang="fr-FR" sz="1900" dirty="0"/>
              <a:t>.</a:t>
            </a:r>
          </a:p>
          <a:p>
            <a:r>
              <a:rPr lang="fr-FR" sz="1900" dirty="0"/>
              <a:t>I </a:t>
            </a:r>
            <a:r>
              <a:rPr lang="fr-FR" sz="1900" dirty="0" err="1"/>
              <a:t>expected</a:t>
            </a:r>
            <a:r>
              <a:rPr lang="fr-FR" sz="1900" dirty="0"/>
              <a:t> </a:t>
            </a:r>
            <a:r>
              <a:rPr lang="fr-FR" sz="1900" dirty="0" err="1"/>
              <a:t>external</a:t>
            </a:r>
            <a:r>
              <a:rPr lang="fr-FR" sz="1900" dirty="0"/>
              <a:t> help, but I </a:t>
            </a:r>
            <a:r>
              <a:rPr lang="fr-FR" sz="1900" dirty="0" err="1"/>
              <a:t>am</a:t>
            </a:r>
            <a:r>
              <a:rPr lang="fr-FR" sz="1900" dirty="0"/>
              <a:t> </a:t>
            </a:r>
            <a:r>
              <a:rPr lang="fr-FR" sz="1900" b="1" u="sng" dirty="0" err="1">
                <a:solidFill>
                  <a:srgbClr val="C00000"/>
                </a:solidFill>
              </a:rPr>
              <a:t>disappointed</a:t>
            </a:r>
            <a:r>
              <a:rPr lang="fr-FR" sz="1900" b="1" u="sng" dirty="0">
                <a:solidFill>
                  <a:srgbClr val="C00000"/>
                </a:solidFill>
              </a:rPr>
              <a:t> in the </a:t>
            </a:r>
            <a:r>
              <a:rPr lang="fr-FR" sz="1900" b="1" u="sng" dirty="0" err="1">
                <a:solidFill>
                  <a:srgbClr val="C00000"/>
                </a:solidFill>
              </a:rPr>
              <a:t>scale</a:t>
            </a:r>
            <a:r>
              <a:rPr lang="fr-FR" sz="1900" b="1" u="sng" dirty="0">
                <a:solidFill>
                  <a:srgbClr val="C00000"/>
                </a:solidFill>
              </a:rPr>
              <a:t>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sociology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has 80% of « 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boosted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» grades!!! 453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students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not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shown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on figures)</a:t>
            </a:r>
            <a:r>
              <a:rPr lang="fr-FR" sz="1900" dirty="0"/>
              <a:t>.</a:t>
            </a:r>
          </a:p>
          <a:p>
            <a:r>
              <a:rPr lang="fr-FR" sz="2400" dirty="0" err="1"/>
              <a:t>My</a:t>
            </a:r>
            <a:r>
              <a:rPr lang="fr-FR" sz="2400" dirty="0"/>
              <a:t> conclusions: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300" dirty="0" err="1"/>
              <a:t>Ethics</a:t>
            </a:r>
            <a:r>
              <a:rPr lang="fr-FR" sz="2300" dirty="0"/>
              <a:t> and </a:t>
            </a:r>
            <a:r>
              <a:rPr lang="fr-FR" sz="2300" dirty="0" err="1"/>
              <a:t>integrity</a:t>
            </a:r>
            <a:r>
              <a:rPr lang="fr-FR" sz="2300" dirty="0"/>
              <a:t> </a:t>
            </a:r>
            <a:r>
              <a:rPr lang="fr-FR" sz="2300" dirty="0" err="1"/>
              <a:t>is</a:t>
            </a:r>
            <a:r>
              <a:rPr lang="fr-FR" sz="2300" dirty="0"/>
              <a:t> NOT a </a:t>
            </a:r>
            <a:r>
              <a:rPr lang="fr-FR" sz="2300" dirty="0" err="1"/>
              <a:t>granted</a:t>
            </a:r>
            <a:r>
              <a:rPr lang="fr-FR" sz="2300" dirty="0"/>
              <a:t>. But like </a:t>
            </a:r>
            <a:r>
              <a:rPr lang="fr-FR" sz="2300" dirty="0" err="1"/>
              <a:t>any</a:t>
            </a:r>
            <a:r>
              <a:rPr lang="fr-FR" sz="2300" dirty="0"/>
              <a:t> </a:t>
            </a:r>
            <a:r>
              <a:rPr lang="fr-FR" sz="2300" dirty="0" err="1"/>
              <a:t>skill</a:t>
            </a:r>
            <a:r>
              <a:rPr lang="fr-FR" sz="2300" dirty="0"/>
              <a:t> </a:t>
            </a:r>
            <a:r>
              <a:rPr lang="fr-FR" sz="2300" dirty="0" err="1"/>
              <a:t>it</a:t>
            </a:r>
            <a:r>
              <a:rPr lang="fr-FR" sz="2300" dirty="0"/>
              <a:t> can </a:t>
            </a:r>
            <a:r>
              <a:rPr lang="fr-FR" sz="2300" dirty="0" err="1"/>
              <a:t>be</a:t>
            </a:r>
            <a:r>
              <a:rPr lang="fr-FR" sz="2300" dirty="0"/>
              <a:t> </a:t>
            </a:r>
            <a:r>
              <a:rPr lang="fr-FR" sz="2300" dirty="0" err="1"/>
              <a:t>improved</a:t>
            </a:r>
            <a:r>
              <a:rPr lang="fr-FR" sz="2300" dirty="0"/>
              <a:t>. </a:t>
            </a:r>
            <a:r>
              <a:rPr lang="fr-FR" sz="2300" dirty="0" err="1"/>
              <a:t>Educators</a:t>
            </a:r>
            <a:r>
              <a:rPr lang="fr-FR" sz="2300" dirty="0"/>
              <a:t> must show the </a:t>
            </a:r>
            <a:r>
              <a:rPr lang="fr-FR" sz="2300" dirty="0" err="1"/>
              <a:t>example</a:t>
            </a:r>
            <a:r>
              <a:rPr lang="fr-FR" sz="2300" dirty="0"/>
              <a:t>, and </a:t>
            </a:r>
            <a:r>
              <a:rPr lang="fr-FR" sz="2300" dirty="0" err="1"/>
              <a:t>educatees</a:t>
            </a:r>
            <a:r>
              <a:rPr lang="fr-FR" sz="2300" dirty="0"/>
              <a:t> must do the effort of </a:t>
            </a:r>
            <a:r>
              <a:rPr lang="fr-FR" sz="2300" dirty="0" err="1"/>
              <a:t>following</a:t>
            </a:r>
            <a:r>
              <a:rPr lang="fr-FR" sz="2300" dirty="0"/>
              <a:t> </a:t>
            </a:r>
            <a:r>
              <a:rPr lang="fr-FR" sz="2300" dirty="0" err="1"/>
              <a:t>it</a:t>
            </a:r>
            <a:r>
              <a:rPr lang="fr-FR" sz="23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300" dirty="0"/>
              <a:t>It </a:t>
            </a:r>
            <a:r>
              <a:rPr lang="fr-FR" sz="2300" dirty="0" err="1"/>
              <a:t>is</a:t>
            </a:r>
            <a:r>
              <a:rPr lang="fr-FR" sz="2300" dirty="0"/>
              <a:t> time to </a:t>
            </a:r>
            <a:r>
              <a:rPr lang="fr-FR" sz="2300" dirty="0" err="1"/>
              <a:t>rethink</a:t>
            </a:r>
            <a:r>
              <a:rPr lang="fr-FR" sz="2300" dirty="0"/>
              <a:t> </a:t>
            </a:r>
            <a:r>
              <a:rPr lang="fr-FR" sz="2300" dirty="0" err="1"/>
              <a:t>our</a:t>
            </a:r>
            <a:r>
              <a:rPr lang="fr-FR" sz="2300" dirty="0"/>
              <a:t> society: are </a:t>
            </a:r>
            <a:r>
              <a:rPr lang="fr-FR" sz="2300" dirty="0" err="1"/>
              <a:t>you</a:t>
            </a:r>
            <a:r>
              <a:rPr lang="fr-FR" sz="2300" dirty="0"/>
              <a:t> OK </a:t>
            </a:r>
            <a:r>
              <a:rPr lang="fr-FR" sz="2300" dirty="0" err="1"/>
              <a:t>with</a:t>
            </a:r>
            <a:r>
              <a:rPr lang="fr-FR" sz="2300" dirty="0"/>
              <a:t> a society </a:t>
            </a:r>
            <a:r>
              <a:rPr lang="fr-FR" sz="2300" dirty="0" err="1"/>
              <a:t>where</a:t>
            </a:r>
            <a:r>
              <a:rPr lang="fr-FR" sz="2300" dirty="0"/>
              <a:t> 1 in 3 </a:t>
            </a:r>
            <a:r>
              <a:rPr lang="fr-FR" sz="2300" dirty="0" err="1"/>
              <a:t>person</a:t>
            </a:r>
            <a:r>
              <a:rPr lang="fr-FR" sz="2300" dirty="0"/>
              <a:t> </a:t>
            </a:r>
            <a:r>
              <a:rPr lang="fr-FR" sz="2300" dirty="0" err="1"/>
              <a:t>is</a:t>
            </a:r>
            <a:r>
              <a:rPr lang="fr-FR" sz="2300" dirty="0"/>
              <a:t> a </a:t>
            </a:r>
            <a:r>
              <a:rPr lang="fr-FR" sz="2300" dirty="0" err="1"/>
              <a:t>liar</a:t>
            </a:r>
            <a:r>
              <a:rPr lang="fr-FR" sz="2300" dirty="0"/>
              <a:t>? Are </a:t>
            </a:r>
            <a:r>
              <a:rPr lang="fr-FR" sz="2300" dirty="0" err="1"/>
              <a:t>you</a:t>
            </a:r>
            <a:r>
              <a:rPr lang="fr-FR" sz="2300" dirty="0"/>
              <a:t> OK </a:t>
            </a:r>
            <a:r>
              <a:rPr lang="fr-FR" sz="2300" dirty="0" err="1"/>
              <a:t>with</a:t>
            </a:r>
            <a:r>
              <a:rPr lang="fr-FR" sz="2300" dirty="0"/>
              <a:t> a society </a:t>
            </a:r>
            <a:r>
              <a:rPr lang="fr-FR" sz="2300" dirty="0" err="1"/>
              <a:t>where</a:t>
            </a:r>
            <a:r>
              <a:rPr lang="fr-FR" sz="2300" dirty="0"/>
              <a:t>, </a:t>
            </a:r>
            <a:r>
              <a:rPr lang="fr-FR" sz="2300" dirty="0" err="1"/>
              <a:t>given</a:t>
            </a:r>
            <a:r>
              <a:rPr lang="fr-FR" sz="2300" dirty="0"/>
              <a:t> the chance, 1 in 3 </a:t>
            </a:r>
            <a:r>
              <a:rPr lang="fr-FR" sz="2300" dirty="0" err="1"/>
              <a:t>person</a:t>
            </a:r>
            <a:r>
              <a:rPr lang="fr-FR" sz="2300" dirty="0"/>
              <a:t> </a:t>
            </a:r>
            <a:r>
              <a:rPr lang="fr-FR" sz="2300" dirty="0" err="1"/>
              <a:t>will</a:t>
            </a:r>
            <a:r>
              <a:rPr lang="fr-FR" sz="2300" dirty="0"/>
              <a:t> </a:t>
            </a:r>
            <a:r>
              <a:rPr lang="fr-FR" sz="2300" dirty="0" err="1"/>
              <a:t>steal</a:t>
            </a:r>
            <a:r>
              <a:rPr lang="fr-FR" sz="2300" dirty="0"/>
              <a:t>? The </a:t>
            </a:r>
            <a:r>
              <a:rPr lang="fr-FR" sz="2300" dirty="0" err="1"/>
              <a:t>saddest</a:t>
            </a:r>
            <a:r>
              <a:rPr lang="fr-FR" sz="2300" dirty="0"/>
              <a:t> part </a:t>
            </a:r>
            <a:r>
              <a:rPr lang="fr-FR" sz="2300" dirty="0" err="1"/>
              <a:t>is</a:t>
            </a:r>
            <a:r>
              <a:rPr lang="fr-FR" sz="2300" dirty="0"/>
              <a:t>: in the exams, </a:t>
            </a:r>
            <a:r>
              <a:rPr lang="fr-FR" sz="2300" dirty="0" err="1"/>
              <a:t>there</a:t>
            </a:r>
            <a:r>
              <a:rPr lang="fr-FR" sz="2300" dirty="0"/>
              <a:t> </a:t>
            </a:r>
            <a:r>
              <a:rPr lang="fr-FR" sz="2300" dirty="0" err="1"/>
              <a:t>were</a:t>
            </a:r>
            <a:r>
              <a:rPr lang="fr-FR" sz="2300" dirty="0"/>
              <a:t> more </a:t>
            </a:r>
            <a:r>
              <a:rPr lang="fr-FR" sz="2300" dirty="0" err="1"/>
              <a:t>cheaters</a:t>
            </a:r>
            <a:r>
              <a:rPr lang="fr-FR" sz="2300" dirty="0"/>
              <a:t> </a:t>
            </a:r>
            <a:r>
              <a:rPr lang="fr-FR" sz="2300" dirty="0" err="1"/>
              <a:t>than</a:t>
            </a:r>
            <a:r>
              <a:rPr lang="fr-FR" sz="2300" dirty="0"/>
              <a:t> places </a:t>
            </a:r>
            <a:r>
              <a:rPr lang="fr-FR" sz="2300" dirty="0" err="1"/>
              <a:t>available</a:t>
            </a:r>
            <a:r>
              <a:rPr lang="fr-FR" sz="2300" dirty="0"/>
              <a:t>. Imagine </a:t>
            </a:r>
            <a:r>
              <a:rPr lang="fr-FR" sz="2300" dirty="0" err="1"/>
              <a:t>choosing</a:t>
            </a:r>
            <a:r>
              <a:rPr lang="fr-FR" sz="2300" dirty="0"/>
              <a:t> a society </a:t>
            </a:r>
            <a:r>
              <a:rPr lang="fr-FR" sz="2300" dirty="0" err="1"/>
              <a:t>filled</a:t>
            </a:r>
            <a:r>
              <a:rPr lang="fr-FR" sz="2300" dirty="0"/>
              <a:t> </a:t>
            </a:r>
            <a:r>
              <a:rPr lang="fr-FR" sz="2300" dirty="0" err="1"/>
              <a:t>with</a:t>
            </a:r>
            <a:r>
              <a:rPr lang="fr-FR" sz="2300" dirty="0"/>
              <a:t> </a:t>
            </a:r>
            <a:r>
              <a:rPr lang="fr-FR" sz="2300" dirty="0" err="1"/>
              <a:t>liars</a:t>
            </a:r>
            <a:r>
              <a:rPr lang="fr-FR" sz="2300" dirty="0"/>
              <a:t> for a 1 in 1 million chance of </a:t>
            </a:r>
            <a:r>
              <a:rPr lang="fr-FR" sz="2300" dirty="0" err="1"/>
              <a:t>becoming</a:t>
            </a:r>
            <a:r>
              <a:rPr lang="fr-FR" sz="2300" dirty="0"/>
              <a:t> </a:t>
            </a:r>
            <a:r>
              <a:rPr lang="fr-FR" sz="2300" dirty="0" err="1"/>
              <a:t>slightly</a:t>
            </a:r>
            <a:r>
              <a:rPr lang="fr-FR" sz="2300" dirty="0"/>
              <a:t> </a:t>
            </a:r>
            <a:r>
              <a:rPr lang="fr-FR" sz="2300" dirty="0" err="1"/>
              <a:t>richer</a:t>
            </a:r>
            <a:r>
              <a:rPr lang="fr-FR" sz="2300" dirty="0"/>
              <a:t>? Do </a:t>
            </a:r>
            <a:r>
              <a:rPr lang="fr-FR" sz="2300" dirty="0" err="1"/>
              <a:t>we</a:t>
            </a:r>
            <a:r>
              <a:rPr lang="fr-FR" sz="2300" dirty="0"/>
              <a:t> not </a:t>
            </a:r>
            <a:r>
              <a:rPr lang="fr-FR" sz="2300" dirty="0" err="1"/>
              <a:t>learn</a:t>
            </a:r>
            <a:r>
              <a:rPr lang="fr-FR" sz="2300" dirty="0"/>
              <a:t> </a:t>
            </a:r>
            <a:r>
              <a:rPr lang="fr-FR" sz="2300" dirty="0" err="1"/>
              <a:t>anything</a:t>
            </a:r>
            <a:r>
              <a:rPr lang="fr-FR" sz="2300" dirty="0"/>
              <a:t> </a:t>
            </a:r>
            <a:r>
              <a:rPr lang="fr-FR" sz="2300" dirty="0" err="1"/>
              <a:t>from</a:t>
            </a:r>
            <a:r>
              <a:rPr lang="fr-FR" sz="2300" dirty="0"/>
              <a:t> (</a:t>
            </a:r>
            <a:r>
              <a:rPr lang="fr-FR" sz="2300" dirty="0" err="1"/>
              <a:t>recent</a:t>
            </a:r>
            <a:r>
              <a:rPr lang="fr-FR" sz="2300" dirty="0"/>
              <a:t>) </a:t>
            </a:r>
            <a:r>
              <a:rPr lang="fr-FR" sz="2300" dirty="0" err="1"/>
              <a:t>history</a:t>
            </a:r>
            <a:r>
              <a:rPr lang="fr-FR" sz="2300" dirty="0"/>
              <a:t>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21C2E5-4CB2-31AA-51ED-E04A394C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23009772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700</Words>
  <Application>Microsoft Macintosh PowerPoint</Application>
  <PresentationFormat>Affichage à l'écran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Thème Office</vt:lpstr>
      <vt:lpstr>Catastrophically great results</vt:lpstr>
      <vt:lpstr>Context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Disclaimer(s)</vt:lpstr>
      <vt:lpstr>(my) takeways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Aguichine</dc:creator>
  <cp:lastModifiedBy>Artem Aguichine</cp:lastModifiedBy>
  <cp:revision>7</cp:revision>
  <dcterms:created xsi:type="dcterms:W3CDTF">2026-08-01T05:51:35Z</dcterms:created>
  <dcterms:modified xsi:type="dcterms:W3CDTF">2026-08-01T08:03:31Z</dcterms:modified>
</cp:coreProperties>
</file>