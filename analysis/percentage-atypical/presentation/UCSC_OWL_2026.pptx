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67" r:id="rId4"/>
    <p:sldId id="258" r:id="rId5"/>
    <p:sldId id="260" r:id="rId6"/>
    <p:sldId id="261" r:id="rId7"/>
    <p:sldId id="268" r:id="rId8"/>
    <p:sldId id="262" r:id="rId9"/>
    <p:sldId id="270" r:id="rId10"/>
    <p:sldId id="264" r:id="rId11"/>
    <p:sldId id="265" r:id="rId12"/>
    <p:sldId id="272" r:id="rId13"/>
    <p:sldId id="273" r:id="rId14"/>
    <p:sldId id="276" r:id="rId15"/>
    <p:sldId id="279" r:id="rId16"/>
    <p:sldId id="275" r:id="rId17"/>
    <p:sldId id="274" r:id="rId18"/>
    <p:sldId id="278" r:id="rId19"/>
    <p:sldId id="277" r:id="rId20"/>
    <p:sldId id="263" r:id="rId21"/>
    <p:sldId id="26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8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90"/>
    <p:restoredTop sz="94648"/>
  </p:normalViewPr>
  <p:slideViewPr>
    <p:cSldViewPr snapToGrid="0">
      <p:cViewPr varScale="1">
        <p:scale>
          <a:sx n="99" d="100"/>
          <a:sy n="99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B44FB-FB62-2449-ADBC-262A8BAF7222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AB91C-8D1F-984D-A0C8-3A45A9276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116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DBE0-0A63-F940-A646-A77A50EA9CF1}" type="datetime1">
              <a:rPr lang="fr-FR" smtClean="0"/>
              <a:t>20/08/2026</a:t>
            </a:fld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D6ABB25-3F9B-9281-98A7-0E92F665B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26634" y="6575077"/>
            <a:ext cx="6690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  <a:alpha val="41000"/>
                  </a:schemeClr>
                </a:solidFill>
              </a:defRPr>
            </a:lvl1pPr>
          </a:lstStyle>
          <a:p>
            <a:r>
              <a:rPr lang="fr-FR"/>
              <a:t>Credit: @an0wen ; Source: https://github.com/an0wen/ResultadosUNAM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05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0C4D6-E88D-6C46-8B8B-C722C0493492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15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B9DE-8A60-194A-9589-CA73C89507EA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1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086E-8C56-4147-9761-0D928BE7A4AE}" type="datetime1">
              <a:rPr lang="fr-FR" smtClean="0"/>
              <a:t>20/08/2026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57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F2F8C-1A78-C54F-AFB9-822AAFBFC298}" type="datetime1">
              <a:rPr lang="fr-FR" smtClean="0"/>
              <a:t>20/08/2026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72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0A77-BA60-4E47-AE59-DFF71D448138}" type="datetime1">
              <a:rPr lang="fr-FR" smtClean="0"/>
              <a:t>20/08/2026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205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4C58-723B-C143-A452-2C985327D948}" type="datetime1">
              <a:rPr lang="fr-FR" smtClean="0"/>
              <a:t>20/08/2026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32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BD8D6-FF89-B24D-B71F-D03DFD8CEEA9}" type="datetime1">
              <a:rPr lang="fr-FR" smtClean="0"/>
              <a:t>20/08/2026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71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8095F-769C-564D-9C0C-382DC71210AC}" type="datetime1">
              <a:rPr lang="fr-FR" smtClean="0"/>
              <a:t>20/08/2026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27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D6B9-DCE8-A54F-9479-80C962AA4C8D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7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1A821-4BB7-FC41-AB5F-EE93539C6034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60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676F9-B266-2143-B909-4A770E5C70F7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26634" y="6575077"/>
            <a:ext cx="6690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  <a:alpha val="41000"/>
                  </a:schemeClr>
                </a:solidFill>
              </a:defRPr>
            </a:lvl1pPr>
          </a:lstStyle>
          <a:p>
            <a:r>
              <a:rPr lang="fr-FR"/>
              <a:t>Credit: @an0wen ; Source: https://github.com/an0wen/ResultadosUNAM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44B2F-F67C-B241-9452-93FEF32F52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375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0wen/ResultadosUNAM" TargetMode="External"/><Relationship Id="rId2" Type="http://schemas.openxmlformats.org/officeDocument/2006/relationships/hyperlink" Target="https://github.com/agn3si/ResultadosUNAM--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69411-1E2D-9763-3890-0D600D9A3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034" y="1122363"/>
            <a:ext cx="6673932" cy="2387600"/>
          </a:xfrm>
        </p:spPr>
        <p:txBody>
          <a:bodyPr/>
          <a:lstStyle/>
          <a:p>
            <a:r>
              <a:rPr lang="fr-FR" b="1" dirty="0" err="1">
                <a:solidFill>
                  <a:srgbClr val="C00000"/>
                </a:solidFill>
              </a:rPr>
              <a:t>Catastrophically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great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results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13931E-AAC8-2FBA-00ED-2905A2880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822513"/>
          </a:xfrm>
        </p:spPr>
        <p:txBody>
          <a:bodyPr>
            <a:normAutofit/>
          </a:bodyPr>
          <a:lstStyle/>
          <a:p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of </a:t>
            </a:r>
            <a:r>
              <a:rPr lang="fr-FR" dirty="0" err="1"/>
              <a:t>university</a:t>
            </a:r>
            <a:r>
              <a:rPr lang="fr-FR" dirty="0"/>
              <a:t> (UNAM) entrance exam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are made </a:t>
            </a:r>
            <a:r>
              <a:rPr lang="fr-FR" b="1" dirty="0" err="1">
                <a:solidFill>
                  <a:srgbClr val="C00000"/>
                </a:solidFill>
              </a:rPr>
              <a:t>remote</a:t>
            </a:r>
            <a:endParaRPr lang="fr-FR" b="1" dirty="0">
              <a:solidFill>
                <a:srgbClr val="C00000"/>
              </a:solidFill>
            </a:endParaRPr>
          </a:p>
          <a:p>
            <a:endParaRPr lang="fr-FR" dirty="0"/>
          </a:p>
          <a:p>
            <a:r>
              <a:rPr lang="fr-FR" sz="2000" dirty="0"/>
              <a:t>Dr. Artem Aguichine (Instituto de </a:t>
            </a:r>
            <a:r>
              <a:rPr lang="fr-FR" sz="2000" dirty="0" err="1"/>
              <a:t>Astronomía</a:t>
            </a:r>
            <a:r>
              <a:rPr lang="fr-FR" sz="2000" dirty="0"/>
              <a:t>, UNAM)</a:t>
            </a:r>
          </a:p>
          <a:p>
            <a:r>
              <a:rPr lang="fr-FR" sz="2000" dirty="0"/>
              <a:t>OWL 2026 - UCSC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9CB382-63F7-17F3-EA6C-BD0906348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673" y="6550220"/>
            <a:ext cx="5062654" cy="365125"/>
          </a:xfrm>
        </p:spPr>
        <p:txBody>
          <a:bodyPr/>
          <a:lstStyle/>
          <a:p>
            <a:r>
              <a:rPr lang="fr-FR" dirty="0"/>
              <a:t>Credit: @an0wen ; Source: https://</a:t>
            </a:r>
            <a:r>
              <a:rPr lang="fr-FR" dirty="0" err="1"/>
              <a:t>github.com</a:t>
            </a:r>
            <a:r>
              <a:rPr lang="fr-FR" dirty="0"/>
              <a:t>/an0wen/</a:t>
            </a:r>
            <a:r>
              <a:rPr lang="fr-FR" dirty="0" err="1"/>
              <a:t>ResultadosUNAM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92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9975D-5BE1-B278-F6B7-2DF9FD18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Context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AC97F8-766F-A88A-CA6B-6A9E01BBE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90" y="1825625"/>
            <a:ext cx="8360228" cy="4351338"/>
          </a:xfrm>
        </p:spPr>
        <p:txBody>
          <a:bodyPr>
            <a:normAutofit fontScale="92500"/>
          </a:bodyPr>
          <a:lstStyle/>
          <a:p>
            <a:r>
              <a:rPr lang="fr-FR" u="sng" dirty="0" err="1"/>
              <a:t>What</a:t>
            </a:r>
            <a:r>
              <a:rPr lang="fr-FR" u="sng" dirty="0"/>
              <a:t>? </a:t>
            </a:r>
            <a:br>
              <a:rPr lang="fr-FR" dirty="0"/>
            </a:br>
            <a:r>
              <a:rPr lang="fr-FR" dirty="0"/>
              <a:t>Entrance exam to </a:t>
            </a:r>
            <a:r>
              <a:rPr lang="fr-FR" dirty="0" err="1"/>
              <a:t>licenciatura</a:t>
            </a:r>
            <a:r>
              <a:rPr lang="fr-FR" dirty="0"/>
              <a:t> (</a:t>
            </a:r>
            <a:r>
              <a:rPr lang="fr-FR" dirty="0" err="1"/>
              <a:t>undergrad</a:t>
            </a:r>
            <a:r>
              <a:rPr lang="fr-FR" dirty="0"/>
              <a:t>) at</a:t>
            </a:r>
            <a:br>
              <a:rPr lang="fr-FR" dirty="0"/>
            </a:br>
            <a:r>
              <a:rPr lang="fr-FR" b="1" dirty="0">
                <a:solidFill>
                  <a:srgbClr val="C00000"/>
                </a:solidFill>
              </a:rPr>
              <a:t>UNAM (</a:t>
            </a:r>
            <a:r>
              <a:rPr lang="fr-FR" b="1" dirty="0" err="1">
                <a:solidFill>
                  <a:srgbClr val="C00000"/>
                </a:solidFill>
              </a:rPr>
              <a:t>Universidad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Nacional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 err="1">
                <a:solidFill>
                  <a:srgbClr val="C00000"/>
                </a:solidFill>
              </a:rPr>
              <a:t>Autónoma</a:t>
            </a:r>
            <a:r>
              <a:rPr lang="fr-FR" b="1" dirty="0">
                <a:solidFill>
                  <a:srgbClr val="C00000"/>
                </a:solidFill>
              </a:rPr>
              <a:t> de México) </a:t>
            </a:r>
          </a:p>
          <a:p>
            <a:endParaRPr lang="fr-FR" dirty="0"/>
          </a:p>
          <a:p>
            <a:r>
              <a:rPr lang="fr-FR" u="sng" dirty="0"/>
              <a:t>Why?</a:t>
            </a:r>
            <a:br>
              <a:rPr lang="fr-FR" dirty="0"/>
            </a:br>
            <a:r>
              <a:rPr lang="fr-FR" dirty="0"/>
              <a:t>In-</a:t>
            </a:r>
            <a:r>
              <a:rPr lang="fr-FR" dirty="0" err="1"/>
              <a:t>person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2025. </a:t>
            </a:r>
            <a:r>
              <a:rPr lang="fr-FR" b="1" dirty="0" err="1">
                <a:solidFill>
                  <a:srgbClr val="C00000"/>
                </a:solidFill>
              </a:rPr>
              <a:t>Remote</a:t>
            </a:r>
            <a:r>
              <a:rPr lang="fr-FR" b="1" dirty="0">
                <a:solidFill>
                  <a:srgbClr val="C00000"/>
                </a:solidFill>
              </a:rPr>
              <a:t> in 2026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u="sng" dirty="0" err="1"/>
              <a:t>Who</a:t>
            </a:r>
            <a:r>
              <a:rPr lang="fr-FR" u="sng" dirty="0"/>
              <a:t>?</a:t>
            </a:r>
            <a:br>
              <a:rPr lang="fr-FR" dirty="0"/>
            </a:br>
            <a:r>
              <a:rPr lang="fr-FR" b="1" dirty="0">
                <a:solidFill>
                  <a:srgbClr val="C00000"/>
                </a:solidFill>
              </a:rPr>
              <a:t>167,094 </a:t>
            </a:r>
            <a:r>
              <a:rPr lang="fr-FR" b="1" dirty="0" err="1">
                <a:solidFill>
                  <a:srgbClr val="C00000"/>
                </a:solidFill>
              </a:rPr>
              <a:t>students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dirty="0" err="1"/>
              <a:t>from</a:t>
            </a:r>
            <a:r>
              <a:rPr lang="fr-FR" dirty="0"/>
              <a:t> STEM, </a:t>
            </a:r>
            <a:r>
              <a:rPr lang="fr-FR" dirty="0" err="1"/>
              <a:t>Medical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Social and Human/Art </a:t>
            </a:r>
            <a:r>
              <a:rPr lang="fr-FR" dirty="0" err="1"/>
              <a:t>fields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B59120-9022-D658-9EE6-AAACD1A8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5073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209B-DC5C-43C1-6ACB-78F9C1BFE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5BEDC-0C22-55D0-24DB-CB8979C8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Source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115284-1833-3D94-3228-1706B3FE0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90" y="1825625"/>
            <a:ext cx="8360228" cy="1155081"/>
          </a:xfrm>
        </p:spPr>
        <p:txBody>
          <a:bodyPr>
            <a:normAutofit/>
          </a:bodyPr>
          <a:lstStyle/>
          <a:p>
            <a:r>
              <a:rPr lang="fr-FR" sz="2400" dirty="0"/>
              <a:t>Data </a:t>
            </a:r>
            <a:r>
              <a:rPr lang="fr-FR" sz="2400" dirty="0" err="1"/>
              <a:t>obtained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>
                <a:hlinkClick r:id="rId2"/>
              </a:rPr>
              <a:t>https://github.com/agn3si/ResultadosUNAM---data</a:t>
            </a:r>
            <a:r>
              <a:rPr lang="fr-FR" sz="2400" dirty="0"/>
              <a:t> </a:t>
            </a:r>
          </a:p>
          <a:p>
            <a:pPr lvl="1"/>
            <a:r>
              <a:rPr lang="fr-FR" sz="2000" dirty="0" err="1"/>
              <a:t>My</a:t>
            </a:r>
            <a:r>
              <a:rPr lang="fr-FR" sz="2000" dirty="0"/>
              <a:t> fork: </a:t>
            </a:r>
            <a:r>
              <a:rPr lang="fr-FR" sz="2000" dirty="0">
                <a:hlinkClick r:id="rId3"/>
              </a:rPr>
              <a:t>https://github.com/an0wen/ResultadosUNAM</a:t>
            </a:r>
            <a:endParaRPr lang="fr-FR" sz="20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63BD57-8AE2-F3DD-DA20-C622806A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45380C2-0BB6-CD54-012A-0797A0A09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40" y="3275379"/>
            <a:ext cx="8766719" cy="308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4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8D808B-5F99-7274-5BD4-EB740B7A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9D4DFFE-7FA1-278A-46E0-AF2A81BB2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9786" y="2458517"/>
            <a:ext cx="6410618" cy="411656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E30F24-FA91-4144-FE37-AFF00923E5EC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~23,000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CE2B2C4-5552-E6BA-79CE-AC1FB1E1E15F}"/>
              </a:ext>
            </a:extLst>
          </p:cNvPr>
          <p:cNvSpPr/>
          <p:nvPr/>
        </p:nvSpPr>
        <p:spPr>
          <a:xfrm>
            <a:off x="5854535" y="2719449"/>
            <a:ext cx="1116281" cy="2280063"/>
          </a:xfrm>
          <a:prstGeom prst="ellipse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05ADC61-4E5B-E972-1880-73449F757AEE}"/>
              </a:ext>
            </a:extLst>
          </p:cNvPr>
          <p:cNvSpPr txBox="1"/>
          <p:nvPr/>
        </p:nvSpPr>
        <p:spPr>
          <a:xfrm>
            <a:off x="6970816" y="2838203"/>
            <a:ext cx="20306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Somehow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u="sng" dirty="0" err="1">
                <a:solidFill>
                  <a:schemeClr val="accent6">
                    <a:lumMod val="75000"/>
                  </a:schemeClr>
                </a:solidFill>
              </a:rPr>
              <a:t>better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students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this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800" dirty="0" err="1">
                <a:solidFill>
                  <a:schemeClr val="accent6">
                    <a:lumMod val="75000"/>
                  </a:schemeClr>
                </a:solidFill>
              </a:rPr>
              <a:t>year</a:t>
            </a:r>
            <a:r>
              <a:rPr lang="fr-FR" sz="2800" dirty="0">
                <a:solidFill>
                  <a:schemeClr val="accent6">
                    <a:lumMod val="75000"/>
                  </a:schemeClr>
                </a:solidFill>
              </a:rPr>
              <a:t> 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27588B-57F0-7B58-D858-8741BB61B3FF}"/>
              </a:ext>
            </a:extLst>
          </p:cNvPr>
          <p:cNvSpPr txBox="1"/>
          <p:nvPr/>
        </p:nvSpPr>
        <p:spPr>
          <a:xfrm>
            <a:off x="6720404" y="2093392"/>
            <a:ext cx="1686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Note: 120 </a:t>
            </a:r>
            <a:r>
              <a:rPr lang="fr-FR" dirty="0" err="1"/>
              <a:t>is</a:t>
            </a:r>
            <a:r>
              <a:rPr lang="fr-FR" dirty="0"/>
              <a:t> the max grade.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7564381-012A-5DA9-E445-76A9B318791E}"/>
              </a:ext>
            </a:extLst>
          </p:cNvPr>
          <p:cNvSpPr txBox="1"/>
          <p:nvPr/>
        </p:nvSpPr>
        <p:spPr>
          <a:xfrm>
            <a:off x="6720404" y="5928746"/>
            <a:ext cx="203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Error</a:t>
            </a:r>
            <a:r>
              <a:rPr lang="fr-FR" dirty="0"/>
              <a:t> bar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stdev</a:t>
            </a:r>
            <a:r>
              <a:rPr lang="fr-FR" dirty="0"/>
              <a:t>, not </a:t>
            </a:r>
            <a:r>
              <a:rPr lang="fr-FR" dirty="0" err="1"/>
              <a:t>uncertainty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665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7E18-DE67-269A-6B5F-E0705320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22188A-98B2-01D3-4C64-7BAF8E581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DB5D98-F6EC-9410-033D-D564810E18B4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~23,000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6EB0A0-8855-6FCA-4EC8-FBC66155E744}"/>
              </a:ext>
            </a:extLst>
          </p:cNvPr>
          <p:cNvSpPr txBox="1"/>
          <p:nvPr/>
        </p:nvSpPr>
        <p:spPr>
          <a:xfrm>
            <a:off x="392298" y="2116866"/>
            <a:ext cx="6424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>
                <a:solidFill>
                  <a:srgbClr val="C00000"/>
                </a:solidFill>
              </a:rPr>
              <a:t>Correction</a:t>
            </a:r>
            <a:r>
              <a:rPr lang="fr-FR" sz="2800" dirty="0">
                <a:solidFill>
                  <a:srgbClr val="C00000"/>
                </a:solidFill>
              </a:rPr>
              <a:t>: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8451E3B-BF51-69DC-3ACA-11B6EED9D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36"/>
          <a:stretch>
            <a:fillRect/>
          </a:stretch>
        </p:blipFill>
        <p:spPr>
          <a:xfrm>
            <a:off x="392298" y="3568063"/>
            <a:ext cx="7772400" cy="300701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FB898CA-664B-5F91-895D-90C4CEE0F7AA}"/>
              </a:ext>
            </a:extLst>
          </p:cNvPr>
          <p:cNvSpPr txBox="1"/>
          <p:nvPr/>
        </p:nvSpPr>
        <p:spPr>
          <a:xfrm>
            <a:off x="2327564" y="2116866"/>
            <a:ext cx="642413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>
                <a:solidFill>
                  <a:srgbClr val="C00000"/>
                </a:solidFill>
              </a:rPr>
              <a:t>some</a:t>
            </a:r>
            <a:r>
              <a:rPr lang="fr-FR" sz="2800" dirty="0">
                <a:solidFill>
                  <a:srgbClr val="C00000"/>
                </a:solidFill>
              </a:rPr>
              <a:t> </a:t>
            </a:r>
            <a:r>
              <a:rPr lang="fr-FR" sz="2800" dirty="0" err="1">
                <a:solidFill>
                  <a:srgbClr val="C00000"/>
                </a:solidFill>
              </a:rPr>
              <a:t>students</a:t>
            </a:r>
            <a:r>
              <a:rPr lang="fr-FR" sz="2800" dirty="0">
                <a:solidFill>
                  <a:srgbClr val="C00000"/>
                </a:solidFill>
              </a:rPr>
              <a:t> </a:t>
            </a:r>
            <a:r>
              <a:rPr lang="fr-FR" sz="2800" dirty="0" err="1">
                <a:solidFill>
                  <a:srgbClr val="C00000"/>
                </a:solidFill>
              </a:rPr>
              <a:t>stayed</a:t>
            </a:r>
            <a:r>
              <a:rPr lang="fr-FR" sz="2800" dirty="0">
                <a:solidFill>
                  <a:srgbClr val="C00000"/>
                </a:solidFill>
              </a:rPr>
              <a:t> the </a:t>
            </a:r>
            <a:r>
              <a:rPr lang="fr-FR" sz="2800" dirty="0" err="1">
                <a:solidFill>
                  <a:srgbClr val="C00000"/>
                </a:solidFill>
              </a:rPr>
              <a:t>same</a:t>
            </a:r>
            <a:endParaRPr lang="fr-FR" sz="2800" dirty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>
                <a:solidFill>
                  <a:srgbClr val="C00000"/>
                </a:solidFill>
              </a:rPr>
              <a:t>some</a:t>
            </a:r>
            <a:r>
              <a:rPr lang="fr-FR" sz="2800" dirty="0">
                <a:solidFill>
                  <a:srgbClr val="C00000"/>
                </a:solidFill>
              </a:rPr>
              <a:t> </a:t>
            </a:r>
            <a:r>
              <a:rPr lang="fr-FR" sz="2800" dirty="0" err="1">
                <a:solidFill>
                  <a:srgbClr val="C00000"/>
                </a:solidFill>
              </a:rPr>
              <a:t>became</a:t>
            </a:r>
            <a:r>
              <a:rPr lang="fr-FR" sz="2800" dirty="0">
                <a:solidFill>
                  <a:srgbClr val="C00000"/>
                </a:solidFill>
              </a:rPr>
              <a:t> expert surgeons</a:t>
            </a:r>
          </a:p>
          <a:p>
            <a:r>
              <a:rPr lang="fr-FR" sz="2000" dirty="0" err="1">
                <a:solidFill>
                  <a:srgbClr val="C00000"/>
                </a:solidFill>
              </a:rPr>
              <a:t>reminder</a:t>
            </a:r>
            <a:r>
              <a:rPr lang="fr-FR" sz="2000" dirty="0">
                <a:solidFill>
                  <a:srgbClr val="C00000"/>
                </a:solidFill>
              </a:rPr>
              <a:t>: </a:t>
            </a:r>
            <a:r>
              <a:rPr lang="fr-FR" sz="2000" dirty="0" err="1">
                <a:solidFill>
                  <a:srgbClr val="C00000"/>
                </a:solidFill>
              </a:rPr>
              <a:t>these</a:t>
            </a:r>
            <a:r>
              <a:rPr lang="fr-FR" sz="2000" dirty="0">
                <a:solidFill>
                  <a:srgbClr val="C00000"/>
                </a:solidFill>
              </a:rPr>
              <a:t> are ~18 </a:t>
            </a:r>
            <a:r>
              <a:rPr lang="fr-FR" sz="2000" dirty="0" err="1">
                <a:solidFill>
                  <a:srgbClr val="C00000"/>
                </a:solidFill>
              </a:rPr>
              <a:t>year</a:t>
            </a:r>
            <a:r>
              <a:rPr lang="fr-FR" sz="2000" dirty="0">
                <a:solidFill>
                  <a:srgbClr val="C00000"/>
                </a:solidFill>
              </a:rPr>
              <a:t> </a:t>
            </a:r>
            <a:r>
              <a:rPr lang="fr-FR" sz="2000" dirty="0" err="1">
                <a:solidFill>
                  <a:srgbClr val="C00000"/>
                </a:solidFill>
              </a:rPr>
              <a:t>old</a:t>
            </a:r>
            <a:r>
              <a:rPr lang="fr-FR" sz="2000" dirty="0">
                <a:solidFill>
                  <a:srgbClr val="C00000"/>
                </a:solidFill>
              </a:rPr>
              <a:t> high-</a:t>
            </a:r>
            <a:r>
              <a:rPr lang="fr-FR" sz="2000" dirty="0" err="1">
                <a:solidFill>
                  <a:srgbClr val="C00000"/>
                </a:solidFill>
              </a:rPr>
              <a:t>schoolers</a:t>
            </a:r>
            <a:r>
              <a:rPr lang="fr-FR" sz="2000" dirty="0">
                <a:solidFill>
                  <a:srgbClr val="C00000"/>
                </a:solidFill>
              </a:rPr>
              <a:t> 😅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2F875EA-310A-D291-72A0-1AAC4C6ADBB1}"/>
              </a:ext>
            </a:extLst>
          </p:cNvPr>
          <p:cNvSpPr txBox="1"/>
          <p:nvPr/>
        </p:nvSpPr>
        <p:spPr>
          <a:xfrm>
            <a:off x="7917366" y="6283851"/>
            <a:ext cx="137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Note: 120 </a:t>
            </a:r>
            <a:r>
              <a:rPr lang="fr-FR" sz="1400" dirty="0" err="1"/>
              <a:t>is</a:t>
            </a:r>
            <a:r>
              <a:rPr lang="fr-FR" sz="1400" dirty="0"/>
              <a:t> the max grade.</a:t>
            </a:r>
          </a:p>
        </p:txBody>
      </p:sp>
    </p:spTree>
    <p:extLst>
      <p:ext uri="{BB962C8B-B14F-4D97-AF65-F5344CB8AC3E}">
        <p14:creationId xmlns:p14="http://schemas.microsoft.com/office/powerpoint/2010/main" val="269078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63194-B55E-B489-4B61-DFC4630A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93C91D-0B59-6EF9-1BFE-ECC44CB6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D8659A-FDF1-17C4-6AC2-B25A40330B09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~23,000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EC3DC5-8CF7-86D0-B6E3-67EAEF7B1F48}"/>
              </a:ext>
            </a:extLst>
          </p:cNvPr>
          <p:cNvSpPr txBox="1"/>
          <p:nvPr/>
        </p:nvSpPr>
        <p:spPr>
          <a:xfrm>
            <a:off x="392298" y="2057909"/>
            <a:ext cx="81698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70C0"/>
                </a:solidFill>
              </a:rPr>
              <a:t>2 populations model </a:t>
            </a:r>
            <a:r>
              <a:rPr lang="fr-FR" sz="2000" dirty="0" err="1">
                <a:solidFill>
                  <a:srgbClr val="0070C0"/>
                </a:solidFill>
              </a:rPr>
              <a:t>heavily</a:t>
            </a:r>
            <a:r>
              <a:rPr lang="fr-FR" sz="2000" dirty="0">
                <a:solidFill>
                  <a:srgbClr val="0070C0"/>
                </a:solidFill>
              </a:rPr>
              <a:t> </a:t>
            </a:r>
            <a:r>
              <a:rPr lang="fr-FR" sz="2000" dirty="0" err="1">
                <a:solidFill>
                  <a:srgbClr val="0070C0"/>
                </a:solidFill>
              </a:rPr>
              <a:t>inspired</a:t>
            </a:r>
            <a:r>
              <a:rPr lang="fr-FR" sz="2000" dirty="0">
                <a:solidFill>
                  <a:srgbClr val="0070C0"/>
                </a:solidFill>
              </a:rPr>
              <a:t> by Arturo Erdély: </a:t>
            </a:r>
            <a:br>
              <a:rPr lang="fr-FR" sz="2000" dirty="0">
                <a:solidFill>
                  <a:srgbClr val="0070C0"/>
                </a:solidFill>
              </a:rPr>
            </a:br>
            <a:r>
              <a:rPr lang="fr-FR" sz="2000" dirty="0">
                <a:solidFill>
                  <a:srgbClr val="0070C0"/>
                </a:solidFill>
              </a:rPr>
              <a:t>1) fit single beta-binomial on 2021-2025,</a:t>
            </a:r>
            <a:br>
              <a:rPr lang="fr-FR" sz="2000" dirty="0">
                <a:solidFill>
                  <a:srgbClr val="0070C0"/>
                </a:solidFill>
              </a:rPr>
            </a:br>
            <a:r>
              <a:rPr lang="fr-FR" sz="2000" dirty="0">
                <a:solidFill>
                  <a:srgbClr val="0070C0"/>
                </a:solidFill>
              </a:rPr>
              <a:t>2) fit double beta-binomial on 2026, </a:t>
            </a:r>
            <a:r>
              <a:rPr lang="fr-FR" sz="2000" dirty="0" err="1">
                <a:solidFill>
                  <a:srgbClr val="0070C0"/>
                </a:solidFill>
              </a:rPr>
              <a:t>keeping</a:t>
            </a:r>
            <a:r>
              <a:rPr lang="fr-FR" sz="2000" dirty="0">
                <a:solidFill>
                  <a:srgbClr val="0070C0"/>
                </a:solidFill>
              </a:rPr>
              <a:t> first </a:t>
            </a:r>
            <a:r>
              <a:rPr lang="fr-FR" sz="2000" dirty="0" err="1">
                <a:solidFill>
                  <a:srgbClr val="0070C0"/>
                </a:solidFill>
              </a:rPr>
              <a:t>parameters</a:t>
            </a:r>
            <a:r>
              <a:rPr lang="fr-FR" sz="2000" dirty="0">
                <a:solidFill>
                  <a:srgbClr val="0070C0"/>
                </a:solidFill>
              </a:rPr>
              <a:t> constant.</a:t>
            </a:r>
          </a:p>
          <a:p>
            <a:r>
              <a:rPr lang="fr-FR" sz="2000" dirty="0">
                <a:solidFill>
                  <a:srgbClr val="0070C0"/>
                </a:solidFill>
              </a:rPr>
              <a:t>Original </a:t>
            </a:r>
            <a:r>
              <a:rPr lang="fr-FR" sz="2000" dirty="0" err="1">
                <a:solidFill>
                  <a:srgbClr val="0070C0"/>
                </a:solidFill>
              </a:rPr>
              <a:t>work</a:t>
            </a:r>
            <a:r>
              <a:rPr lang="fr-FR" sz="2000" dirty="0">
                <a:solidFill>
                  <a:srgbClr val="0070C0"/>
                </a:solidFill>
              </a:rPr>
              <a:t>: </a:t>
            </a:r>
            <a:r>
              <a:rPr lang="fr-FR" sz="2000" dirty="0" err="1">
                <a:solidFill>
                  <a:srgbClr val="0070C0"/>
                </a:solidFill>
              </a:rPr>
              <a:t>medicine</a:t>
            </a:r>
            <a:r>
              <a:rPr lang="fr-FR" sz="2000" dirty="0">
                <a:solidFill>
                  <a:srgbClr val="0070C0"/>
                </a:solidFill>
              </a:rPr>
              <a:t>; </a:t>
            </a:r>
            <a:r>
              <a:rPr lang="fr-FR" sz="2000" dirty="0" err="1">
                <a:solidFill>
                  <a:srgbClr val="0070C0"/>
                </a:solidFill>
              </a:rPr>
              <a:t>my</a:t>
            </a:r>
            <a:r>
              <a:rPr lang="fr-FR" sz="2000" dirty="0">
                <a:solidFill>
                  <a:srgbClr val="0070C0"/>
                </a:solidFill>
              </a:rPr>
              <a:t> </a:t>
            </a:r>
            <a:r>
              <a:rPr lang="fr-FR" sz="2000" dirty="0" err="1">
                <a:solidFill>
                  <a:srgbClr val="0070C0"/>
                </a:solidFill>
              </a:rPr>
              <a:t>work</a:t>
            </a:r>
            <a:r>
              <a:rPr lang="fr-FR" sz="2000" dirty="0">
                <a:solidFill>
                  <a:srgbClr val="0070C0"/>
                </a:solidFill>
              </a:rPr>
              <a:t>: all ~100 </a:t>
            </a:r>
            <a:r>
              <a:rPr lang="fr-FR" sz="2000" dirty="0" err="1">
                <a:solidFill>
                  <a:srgbClr val="0070C0"/>
                </a:solidFill>
              </a:rPr>
              <a:t>fields</a:t>
            </a:r>
            <a:r>
              <a:rPr lang="fr-FR" sz="2000" dirty="0">
                <a:solidFill>
                  <a:srgbClr val="0070C0"/>
                </a:solidFill>
              </a:rPr>
              <a:t> </a:t>
            </a:r>
            <a:r>
              <a:rPr lang="fr-FR" sz="2000" dirty="0" err="1">
                <a:solidFill>
                  <a:srgbClr val="0070C0"/>
                </a:solidFill>
              </a:rPr>
              <a:t>individually</a:t>
            </a:r>
            <a:r>
              <a:rPr lang="fr-FR" sz="2000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2" name="Image 1" descr="https://substackcdn.com/image/fetch/$s_!JLAg!,f_auto,q_auto:good,fl_progressive:steep/https%3A%2F%2Fsubstack-post-media.s3.amazonaws.com%2Fpublic%2Fimages%2F0c3dd21d-b831-4a21-8b91-de5f0ad1c1f2_345x230.png">
            <a:extLst>
              <a:ext uri="{FF2B5EF4-FFF2-40B4-BE49-F238E27FC236}">
                <a16:creationId xmlns:a16="http://schemas.microsoft.com/office/drawing/2014/main" id="{74D979B1-9E5A-62F0-3E50-C9BFB201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18" y="3818454"/>
            <a:ext cx="3983202" cy="265546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E869C37-C143-1420-88D9-2E05CE1FB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68" y="3812895"/>
            <a:ext cx="3997016" cy="266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18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FA62-3A0D-AA26-9ECA-70EE8301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9C7BB4-3BF6-39FA-2943-402C0BA8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FD4647-FC24-DA8D-D80F-D848993811B9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~23,000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EBF6BEA-253E-D9F6-0390-A36B90BFACC6}"/>
              </a:ext>
            </a:extLst>
          </p:cNvPr>
          <p:cNvSpPr txBox="1"/>
          <p:nvPr/>
        </p:nvSpPr>
        <p:spPr>
          <a:xfrm>
            <a:off x="392297" y="2389999"/>
            <a:ext cx="8169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70C0"/>
                </a:solidFill>
              </a:rPr>
              <a:t>2 populations model: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35ECEC9-794A-4C66-BB4D-3265F9B02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36"/>
          <a:stretch>
            <a:fillRect/>
          </a:stretch>
        </p:blipFill>
        <p:spPr>
          <a:xfrm>
            <a:off x="392298" y="3568063"/>
            <a:ext cx="7772400" cy="300701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A0BE10A-8306-DE50-F721-883CA1708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71" b="235"/>
          <a:stretch>
            <a:fillRect/>
          </a:stretch>
        </p:blipFill>
        <p:spPr>
          <a:xfrm>
            <a:off x="392298" y="3560253"/>
            <a:ext cx="7772400" cy="301482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EE867E3-D9DC-914F-4B7F-89CD60C3BF5A}"/>
              </a:ext>
            </a:extLst>
          </p:cNvPr>
          <p:cNvSpPr txBox="1"/>
          <p:nvPr/>
        </p:nvSpPr>
        <p:spPr>
          <a:xfrm>
            <a:off x="3740726" y="2389999"/>
            <a:ext cx="4880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u="sng" dirty="0">
                <a:solidFill>
                  <a:srgbClr val="0070C0"/>
                </a:solidFill>
              </a:rPr>
              <a:t>normal</a:t>
            </a:r>
            <a:r>
              <a:rPr lang="fr-FR" sz="2800" dirty="0">
                <a:solidFill>
                  <a:srgbClr val="0070C0"/>
                </a:solidFill>
              </a:rPr>
              <a:t> and </a:t>
            </a:r>
            <a:r>
              <a:rPr lang="fr-FR" sz="2800" b="1" u="sng" dirty="0">
                <a:solidFill>
                  <a:srgbClr val="0070C0"/>
                </a:solidFill>
              </a:rPr>
              <a:t>« </a:t>
            </a:r>
            <a:r>
              <a:rPr lang="fr-FR" sz="2800" b="1" u="sng" dirty="0" err="1">
                <a:solidFill>
                  <a:srgbClr val="0070C0"/>
                </a:solidFill>
              </a:rPr>
              <a:t>boosted</a:t>
            </a:r>
            <a:r>
              <a:rPr lang="fr-FR" sz="2800" b="1" u="sng" dirty="0">
                <a:solidFill>
                  <a:srgbClr val="0070C0"/>
                </a:solidFill>
              </a:rPr>
              <a:t> »</a:t>
            </a:r>
          </a:p>
          <a:p>
            <a:r>
              <a:rPr lang="fr-FR" sz="2800" dirty="0">
                <a:solidFill>
                  <a:srgbClr val="0070C0"/>
                </a:solidFill>
              </a:rPr>
              <a:t>not </a:t>
            </a:r>
            <a:r>
              <a:rPr lang="fr-FR" sz="2800" dirty="0" err="1">
                <a:solidFill>
                  <a:srgbClr val="0070C0"/>
                </a:solidFill>
              </a:rPr>
              <a:t>perfect</a:t>
            </a:r>
            <a:r>
              <a:rPr lang="fr-FR" sz="2800" dirty="0">
                <a:solidFill>
                  <a:srgbClr val="0070C0"/>
                </a:solidFill>
              </a:rPr>
              <a:t>, but checks out 💯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438079-A2B3-385B-942B-6C73A7F3990C}"/>
              </a:ext>
            </a:extLst>
          </p:cNvPr>
          <p:cNvSpPr txBox="1"/>
          <p:nvPr/>
        </p:nvSpPr>
        <p:spPr>
          <a:xfrm>
            <a:off x="3233576" y="3833893"/>
            <a:ext cx="2947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40% of </a:t>
            </a:r>
            <a:r>
              <a:rPr lang="fr-FR" sz="20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students</a:t>
            </a:r>
            <a:r>
              <a:rPr lang="fr-FR" sz="20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 have « </a:t>
            </a:r>
            <a:r>
              <a:rPr lang="fr-FR" sz="20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Boosted</a:t>
            </a:r>
            <a:r>
              <a:rPr lang="fr-FR" sz="20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 » scores 😬</a:t>
            </a:r>
          </a:p>
        </p:txBody>
      </p:sp>
    </p:spTree>
    <p:extLst>
      <p:ext uri="{BB962C8B-B14F-4D97-AF65-F5344CB8AC3E}">
        <p14:creationId xmlns:p14="http://schemas.microsoft.com/office/powerpoint/2010/main" val="28921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D88F-26BE-101C-DE75-04EB8E96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54AAA3-12DF-F60B-83E7-9823C186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324C3A-3BBA-93F3-8609-E29B05969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9786" y="2458517"/>
            <a:ext cx="6410618" cy="411655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E51929B-F86A-2823-7791-7FCD4A0796FA}"/>
              </a:ext>
            </a:extLst>
          </p:cNvPr>
          <p:cNvSpPr txBox="1"/>
          <p:nvPr/>
        </p:nvSpPr>
        <p:spPr>
          <a:xfrm>
            <a:off x="488068" y="882952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Surgery</a:t>
            </a:r>
            <a:endParaRPr lang="fr-FR" sz="3600" b="1" dirty="0"/>
          </a:p>
          <a:p>
            <a:r>
              <a:rPr lang="fr-FR" sz="3600" dirty="0"/>
              <a:t>~23,000 </a:t>
            </a:r>
            <a:r>
              <a:rPr lang="fr-FR" sz="3600" dirty="0" err="1"/>
              <a:t>students</a:t>
            </a:r>
            <a:r>
              <a:rPr lang="fr-FR" sz="3600" dirty="0"/>
              <a:t> </a:t>
            </a:r>
            <a:r>
              <a:rPr lang="fr-FR" sz="3600" dirty="0" err="1"/>
              <a:t>every</a:t>
            </a:r>
            <a:r>
              <a:rPr lang="fr-FR" sz="3600" dirty="0"/>
              <a:t> </a:t>
            </a:r>
            <a:r>
              <a:rPr lang="fr-FR" sz="3600" dirty="0" err="1"/>
              <a:t>year</a:t>
            </a:r>
            <a:endParaRPr lang="fr-FR" sz="36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6E1DE5-578F-4E43-E7D4-2D1EEF4D59A5}"/>
              </a:ext>
            </a:extLst>
          </p:cNvPr>
          <p:cNvSpPr txBox="1"/>
          <p:nvPr/>
        </p:nvSpPr>
        <p:spPr>
          <a:xfrm>
            <a:off x="6720404" y="3277590"/>
            <a:ext cx="20306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rgbClr val="0070C0"/>
                </a:solidFill>
              </a:rPr>
              <a:t>Yeah… 😑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9362D35-74B4-607C-96BB-FBCD16242982}"/>
              </a:ext>
            </a:extLst>
          </p:cNvPr>
          <p:cNvSpPr txBox="1"/>
          <p:nvPr/>
        </p:nvSpPr>
        <p:spPr>
          <a:xfrm>
            <a:off x="5423548" y="5008118"/>
            <a:ext cx="294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rgbClr val="00B050"/>
                </a:solidFill>
                <a:effectLst>
                  <a:glow rad="330233">
                    <a:schemeClr val="bg1"/>
                  </a:glow>
                </a:effectLst>
              </a:rPr>
              <a:t>Expected</a:t>
            </a:r>
            <a:r>
              <a:rPr lang="fr-FR" sz="2800" dirty="0">
                <a:solidFill>
                  <a:srgbClr val="00B050"/>
                </a:solidFill>
                <a:effectLst>
                  <a:glow rad="330233">
                    <a:schemeClr val="bg1"/>
                  </a:glow>
                </a:effectLst>
              </a:rPr>
              <a:t>: 60%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72EB5AB-AA74-9FEB-4373-C3F10CE49A41}"/>
              </a:ext>
            </a:extLst>
          </p:cNvPr>
          <p:cNvSpPr txBox="1"/>
          <p:nvPr/>
        </p:nvSpPr>
        <p:spPr>
          <a:xfrm>
            <a:off x="5423548" y="2233851"/>
            <a:ext cx="294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« </a:t>
            </a:r>
            <a:r>
              <a:rPr lang="fr-FR" sz="28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Boosted</a:t>
            </a:r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 »: 40%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120E6E-7F3C-674C-2DE8-8AD99746DA86}"/>
              </a:ext>
            </a:extLst>
          </p:cNvPr>
          <p:cNvSpPr txBox="1"/>
          <p:nvPr/>
        </p:nvSpPr>
        <p:spPr>
          <a:xfrm>
            <a:off x="6720404" y="5928746"/>
            <a:ext cx="203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Error</a:t>
            </a:r>
            <a:r>
              <a:rPr lang="fr-FR" dirty="0"/>
              <a:t> bar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stdev</a:t>
            </a:r>
            <a:r>
              <a:rPr lang="fr-FR" dirty="0"/>
              <a:t>, not </a:t>
            </a:r>
            <a:r>
              <a:rPr lang="fr-FR" dirty="0" err="1"/>
              <a:t>uncertainty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034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AAF5-A277-5457-6A39-795CCDC9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D5E34B-F5E2-3038-265F-7E644DB2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2B8A6D9-F29C-6C05-971C-E9F1F6F15EF4}"/>
              </a:ext>
            </a:extLst>
          </p:cNvPr>
          <p:cNvSpPr txBox="1"/>
          <p:nvPr/>
        </p:nvSpPr>
        <p:spPr>
          <a:xfrm>
            <a:off x="488068" y="282923"/>
            <a:ext cx="571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Physics</a:t>
            </a:r>
            <a:endParaRPr lang="fr-FR" sz="3600" b="1" dirty="0"/>
          </a:p>
          <a:p>
            <a:r>
              <a:rPr lang="fr-FR" sz="3600" dirty="0"/>
              <a:t>723 </a:t>
            </a:r>
            <a:r>
              <a:rPr lang="fr-FR" sz="3600" dirty="0" err="1"/>
              <a:t>students</a:t>
            </a:r>
            <a:r>
              <a:rPr lang="fr-FR" sz="3600" dirty="0"/>
              <a:t> in 2026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8DF419F-2CC9-4F6D-B3FE-9AA0EF83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81" y="1638948"/>
            <a:ext cx="6038038" cy="493882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212E951-924D-182B-0F2B-15D23890CF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945"/>
          <a:stretch>
            <a:fillRect/>
          </a:stretch>
        </p:blipFill>
        <p:spPr>
          <a:xfrm>
            <a:off x="160881" y="1636252"/>
            <a:ext cx="6038038" cy="2472109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96A3F404-ECDE-B913-48B1-837778E82DCD}"/>
              </a:ext>
            </a:extLst>
          </p:cNvPr>
          <p:cNvGrpSpPr/>
          <p:nvPr/>
        </p:nvGrpSpPr>
        <p:grpSpPr>
          <a:xfrm>
            <a:off x="6250376" y="1734449"/>
            <a:ext cx="2732743" cy="4745128"/>
            <a:chOff x="5947707" y="920750"/>
            <a:chExt cx="2732743" cy="4745128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6E293014-CC55-8A51-ED2A-02ECB69B7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2874"/>
            <a:stretch>
              <a:fillRect/>
            </a:stretch>
          </p:blipFill>
          <p:spPr>
            <a:xfrm>
              <a:off x="5947707" y="920750"/>
              <a:ext cx="553881" cy="4745128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20680689-3F4D-4622-EFD4-EBBB9AC4A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1967"/>
            <a:stretch>
              <a:fillRect/>
            </a:stretch>
          </p:blipFill>
          <p:spPr>
            <a:xfrm>
              <a:off x="6501588" y="920750"/>
              <a:ext cx="2178862" cy="4745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245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6E86-17ED-DAB4-52F8-2B149002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0B123BE-727C-5B17-AADB-0D7C0729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B3AA1F-17AB-B2A1-19A6-CFC9CC3BE6C0}"/>
              </a:ext>
            </a:extLst>
          </p:cNvPr>
          <p:cNvSpPr txBox="1"/>
          <p:nvPr/>
        </p:nvSpPr>
        <p:spPr>
          <a:xfrm>
            <a:off x="488068" y="882952"/>
            <a:ext cx="7017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Same</a:t>
            </a:r>
            <a:r>
              <a:rPr lang="fr-FR" sz="3600" b="1" dirty="0"/>
              <a:t> in all </a:t>
            </a:r>
            <a:r>
              <a:rPr lang="fr-FR" sz="3600" b="1" dirty="0" err="1"/>
              <a:t>fields</a:t>
            </a:r>
            <a:r>
              <a:rPr lang="fr-FR" sz="3600" b="1" dirty="0"/>
              <a:t> </a:t>
            </a:r>
            <a:r>
              <a:rPr lang="fr-FR" altLang="ja-JP" sz="3600" b="1" dirty="0"/>
              <a:t>¯\_(</a:t>
            </a:r>
            <a:r>
              <a:rPr lang="ja-JP" altLang="fr-FR" sz="3600" b="1"/>
              <a:t>ツ</a:t>
            </a:r>
            <a:r>
              <a:rPr lang="fr-FR" altLang="ja-JP" sz="3600" b="1" dirty="0"/>
              <a:t>)_/¯</a:t>
            </a:r>
            <a:endParaRPr lang="fr-FR" sz="3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0EF199C-0671-2C1B-C19E-60B8D3F39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95" y="1635972"/>
            <a:ext cx="4939105" cy="49391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F03CF73-53EF-8EE1-0D7D-3BD60AF0BA38}"/>
              </a:ext>
            </a:extLst>
          </p:cNvPr>
          <p:cNvSpPr txBox="1"/>
          <p:nvPr/>
        </p:nvSpPr>
        <p:spPr>
          <a:xfrm>
            <a:off x="488081" y="4930859"/>
            <a:ext cx="2476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err="1">
                <a:solidFill>
                  <a:srgbClr val="0070C0"/>
                </a:solidFill>
              </a:rPr>
              <a:t>Observed</a:t>
            </a:r>
            <a:endParaRPr lang="fr-FR" sz="2000" dirty="0">
              <a:solidFill>
                <a:srgbClr val="0070C0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F170A1-E8BA-4FD4-3CCB-4BBE21F3132B}"/>
              </a:ext>
            </a:extLst>
          </p:cNvPr>
          <p:cNvSpPr txBox="1"/>
          <p:nvPr/>
        </p:nvSpPr>
        <p:spPr>
          <a:xfrm rot="19163285">
            <a:off x="3599457" y="4490355"/>
            <a:ext cx="1506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rgbClr val="00B050"/>
                </a:solidFill>
                <a:effectLst/>
              </a:rPr>
              <a:t>Expected</a:t>
            </a:r>
            <a:endParaRPr lang="fr-FR" sz="1400" dirty="0">
              <a:solidFill>
                <a:srgbClr val="00B050"/>
              </a:solidFill>
              <a:effectLst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1A83A8-789A-4979-C4AB-EEB16B3FB451}"/>
              </a:ext>
            </a:extLst>
          </p:cNvPr>
          <p:cNvSpPr txBox="1"/>
          <p:nvPr/>
        </p:nvSpPr>
        <p:spPr>
          <a:xfrm>
            <a:off x="725574" y="2484223"/>
            <a:ext cx="294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« </a:t>
            </a:r>
            <a:r>
              <a:rPr lang="fr-FR" sz="2800" dirty="0" err="1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Boosted</a:t>
            </a:r>
            <a:r>
              <a:rPr lang="fr-FR" sz="2800" dirty="0">
                <a:solidFill>
                  <a:srgbClr val="C00000"/>
                </a:solidFill>
                <a:effectLst>
                  <a:glow rad="330233">
                    <a:schemeClr val="bg1"/>
                  </a:glow>
                </a:effectLst>
              </a:rPr>
              <a:t> »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AA751F-4734-DA9C-F643-D7744C0BCDD2}"/>
              </a:ext>
            </a:extLst>
          </p:cNvPr>
          <p:cNvSpPr txBox="1"/>
          <p:nvPr/>
        </p:nvSpPr>
        <p:spPr>
          <a:xfrm>
            <a:off x="5533899" y="1653140"/>
            <a:ext cx="2790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Showing</a:t>
            </a:r>
            <a:r>
              <a:rPr lang="fr-FR" sz="1600" dirty="0"/>
              <a:t> </a:t>
            </a:r>
            <a:r>
              <a:rPr lang="fr-FR" sz="1600" dirty="0" err="1"/>
              <a:t>only</a:t>
            </a:r>
            <a:r>
              <a:rPr lang="fr-FR" sz="1600" dirty="0"/>
              <a:t> </a:t>
            </a:r>
            <a:r>
              <a:rPr lang="fr-FR" sz="1600" dirty="0" err="1"/>
              <a:t>fields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N&gt;1000 for </a:t>
            </a:r>
            <a:r>
              <a:rPr lang="fr-FR" sz="1600" dirty="0" err="1"/>
              <a:t>robustness</a:t>
            </a:r>
            <a:endParaRPr lang="fr-FR" sz="16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ACD052-B1B4-484F-C472-E200119ACD3B}"/>
              </a:ext>
            </a:extLst>
          </p:cNvPr>
          <p:cNvSpPr txBox="1"/>
          <p:nvPr/>
        </p:nvSpPr>
        <p:spPr>
          <a:xfrm>
            <a:off x="5533899" y="2989978"/>
            <a:ext cx="34199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>
                <a:solidFill>
                  <a:srgbClr val="0070C0"/>
                </a:solidFill>
              </a:rPr>
              <a:t>Observed</a:t>
            </a:r>
            <a:r>
              <a:rPr lang="fr-FR" sz="2000" dirty="0">
                <a:solidFill>
                  <a:srgbClr val="0070C0"/>
                </a:solidFill>
              </a:rPr>
              <a:t> </a:t>
            </a:r>
            <a:r>
              <a:rPr lang="fr-FR" sz="2000" dirty="0" err="1">
                <a:solidFill>
                  <a:srgbClr val="0070C0"/>
                </a:solidFill>
              </a:rPr>
              <a:t>results</a:t>
            </a:r>
            <a:r>
              <a:rPr lang="fr-FR" sz="2000" dirty="0">
                <a:solidFill>
                  <a:srgbClr val="0070C0"/>
                </a:solidFill>
              </a:rPr>
              <a:t> are ~10 points </a:t>
            </a:r>
            <a:r>
              <a:rPr lang="fr-FR" sz="2000" dirty="0" err="1">
                <a:solidFill>
                  <a:srgbClr val="0070C0"/>
                </a:solidFill>
              </a:rPr>
              <a:t>higher</a:t>
            </a:r>
            <a:r>
              <a:rPr lang="fr-FR" sz="2000" dirty="0">
                <a:solidFill>
                  <a:srgbClr val="0070C0"/>
                </a:solidFill>
              </a:rPr>
              <a:t> </a:t>
            </a:r>
            <a:r>
              <a:rPr lang="fr-FR" sz="2000" dirty="0" err="1">
                <a:solidFill>
                  <a:srgbClr val="0070C0"/>
                </a:solidFill>
              </a:rPr>
              <a:t>than</a:t>
            </a:r>
            <a:r>
              <a:rPr lang="fr-FR" sz="2000" dirty="0">
                <a:solidFill>
                  <a:srgbClr val="0070C0"/>
                </a:solidFill>
              </a:rPr>
              <a:t> </a:t>
            </a:r>
            <a:r>
              <a:rPr lang="fr-FR" sz="2000" dirty="0" err="1">
                <a:solidFill>
                  <a:srgbClr val="0070C0"/>
                </a:solidFill>
              </a:rPr>
              <a:t>expected</a:t>
            </a:r>
            <a:r>
              <a:rPr lang="fr-FR" sz="2000" dirty="0">
                <a:solidFill>
                  <a:srgbClr val="0070C0"/>
                </a:solidFill>
              </a:rPr>
              <a:t> (</a:t>
            </a:r>
            <a:r>
              <a:rPr lang="fr-FR" sz="2000" dirty="0" err="1">
                <a:solidFill>
                  <a:srgbClr val="0070C0"/>
                </a:solidFill>
              </a:rPr>
              <a:t>anomaly</a:t>
            </a:r>
            <a:r>
              <a:rPr lang="fr-FR" sz="2000" dirty="0">
                <a:solidFill>
                  <a:srgbClr val="0070C0"/>
                </a:solidFill>
              </a:rPr>
              <a:t> at </a:t>
            </a:r>
            <a:r>
              <a:rPr lang="fr-FR" sz="2000" dirty="0" err="1">
                <a:solidFill>
                  <a:srgbClr val="0070C0"/>
                </a:solidFill>
              </a:rPr>
              <a:t>order</a:t>
            </a:r>
            <a:r>
              <a:rPr lang="fr-FR" sz="2000" dirty="0">
                <a:solidFill>
                  <a:srgbClr val="0070C0"/>
                </a:solidFill>
              </a:rPr>
              <a:t> 0).</a:t>
            </a:r>
          </a:p>
          <a:p>
            <a:endParaRPr lang="fr-FR" sz="2000" dirty="0">
              <a:solidFill>
                <a:srgbClr val="0070C0"/>
              </a:solidFill>
            </a:endParaRPr>
          </a:p>
          <a:p>
            <a:r>
              <a:rPr lang="fr-FR" sz="2000" dirty="0" err="1">
                <a:solidFill>
                  <a:srgbClr val="C00000"/>
                </a:solidFill>
              </a:rPr>
              <a:t>Boosted</a:t>
            </a:r>
            <a:r>
              <a:rPr lang="fr-FR" sz="2000" dirty="0">
                <a:solidFill>
                  <a:srgbClr val="C00000"/>
                </a:solidFill>
              </a:rPr>
              <a:t> </a:t>
            </a:r>
            <a:r>
              <a:rPr lang="fr-FR" sz="2000" dirty="0" err="1">
                <a:solidFill>
                  <a:srgbClr val="C00000"/>
                </a:solidFill>
              </a:rPr>
              <a:t>results</a:t>
            </a:r>
            <a:r>
              <a:rPr lang="fr-FR" sz="2000" dirty="0">
                <a:solidFill>
                  <a:srgbClr val="C00000"/>
                </a:solidFill>
              </a:rPr>
              <a:t> are ~35 points </a:t>
            </a:r>
            <a:r>
              <a:rPr lang="fr-FR" sz="2000" dirty="0" err="1">
                <a:solidFill>
                  <a:srgbClr val="C00000"/>
                </a:solidFill>
              </a:rPr>
              <a:t>higher</a:t>
            </a:r>
            <a:r>
              <a:rPr lang="fr-FR" sz="2000" dirty="0">
                <a:solidFill>
                  <a:srgbClr val="C00000"/>
                </a:solidFill>
              </a:rPr>
              <a:t> </a:t>
            </a:r>
            <a:r>
              <a:rPr lang="fr-FR" sz="2000" dirty="0" err="1">
                <a:solidFill>
                  <a:srgbClr val="C00000"/>
                </a:solidFill>
              </a:rPr>
              <a:t>than</a:t>
            </a:r>
            <a:r>
              <a:rPr lang="fr-FR" sz="2000" dirty="0">
                <a:solidFill>
                  <a:srgbClr val="C00000"/>
                </a:solidFill>
              </a:rPr>
              <a:t> </a:t>
            </a:r>
            <a:r>
              <a:rPr lang="fr-FR" sz="2000" dirty="0" err="1">
                <a:solidFill>
                  <a:srgbClr val="C00000"/>
                </a:solidFill>
              </a:rPr>
              <a:t>expected</a:t>
            </a:r>
            <a:r>
              <a:rPr lang="fr-FR" sz="2000" dirty="0">
                <a:solidFill>
                  <a:srgbClr val="C00000"/>
                </a:solidFill>
              </a:rPr>
              <a:t> (</a:t>
            </a:r>
            <a:r>
              <a:rPr lang="fr-FR" sz="2000" dirty="0" err="1">
                <a:solidFill>
                  <a:srgbClr val="C00000"/>
                </a:solidFill>
              </a:rPr>
              <a:t>anomaly</a:t>
            </a:r>
            <a:r>
              <a:rPr lang="fr-FR" sz="2000" dirty="0">
                <a:solidFill>
                  <a:srgbClr val="C00000"/>
                </a:solidFill>
              </a:rPr>
              <a:t> </a:t>
            </a:r>
            <a:r>
              <a:rPr lang="fr-FR" sz="2000" dirty="0" err="1">
                <a:solidFill>
                  <a:srgbClr val="C00000"/>
                </a:solidFill>
              </a:rPr>
              <a:t>from</a:t>
            </a:r>
            <a:r>
              <a:rPr lang="fr-FR" sz="2000" dirty="0">
                <a:solidFill>
                  <a:srgbClr val="C00000"/>
                </a:solidFill>
              </a:rPr>
              <a:t> 2 pop model).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0979E8A4-37A2-5260-3718-8A856269EC7A}"/>
              </a:ext>
            </a:extLst>
          </p:cNvPr>
          <p:cNvCxnSpPr>
            <a:cxnSpLocks/>
          </p:cNvCxnSpPr>
          <p:nvPr/>
        </p:nvCxnSpPr>
        <p:spPr>
          <a:xfrm flipV="1">
            <a:off x="2824655" y="4930859"/>
            <a:ext cx="0" cy="78760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607A560-8875-58A3-31CC-A21DE6349731}"/>
              </a:ext>
            </a:extLst>
          </p:cNvPr>
          <p:cNvCxnSpPr>
            <a:cxnSpLocks/>
          </p:cNvCxnSpPr>
          <p:nvPr/>
        </p:nvCxnSpPr>
        <p:spPr>
          <a:xfrm flipV="1">
            <a:off x="2964175" y="3219718"/>
            <a:ext cx="0" cy="24987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91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F45E-68D6-788D-C3FF-D731100A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C7FFC2-C3B8-EB7B-703B-874886F8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0871664-7BBF-3C33-0897-5B15604629EA}"/>
              </a:ext>
            </a:extLst>
          </p:cNvPr>
          <p:cNvSpPr txBox="1"/>
          <p:nvPr/>
        </p:nvSpPr>
        <p:spPr>
          <a:xfrm>
            <a:off x="488068" y="882952"/>
            <a:ext cx="7017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err="1"/>
              <a:t>Same</a:t>
            </a:r>
            <a:r>
              <a:rPr lang="fr-FR" sz="3600" b="1" dirty="0"/>
              <a:t> in all </a:t>
            </a:r>
            <a:r>
              <a:rPr lang="fr-FR" sz="3600" b="1" dirty="0" err="1"/>
              <a:t>fields</a:t>
            </a:r>
            <a:r>
              <a:rPr lang="fr-FR" sz="3600" b="1" dirty="0"/>
              <a:t> </a:t>
            </a:r>
            <a:r>
              <a:rPr lang="fr-FR" altLang="ja-JP" sz="3600" b="1" dirty="0"/>
              <a:t>¯\_(</a:t>
            </a:r>
            <a:r>
              <a:rPr lang="ja-JP" altLang="fr-FR" sz="3600" b="1"/>
              <a:t>ツ</a:t>
            </a:r>
            <a:r>
              <a:rPr lang="fr-FR" altLang="ja-JP" sz="3600" b="1" dirty="0"/>
              <a:t>)_/¯</a:t>
            </a:r>
            <a:endParaRPr lang="fr-FR" sz="36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58A53B-56E5-F25B-9886-252EBD39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4795" y="1635972"/>
            <a:ext cx="4939105" cy="493910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8FB6FDC-1D90-6F16-96C8-2A45A5235004}"/>
              </a:ext>
            </a:extLst>
          </p:cNvPr>
          <p:cNvSpPr txBox="1"/>
          <p:nvPr/>
        </p:nvSpPr>
        <p:spPr>
          <a:xfrm>
            <a:off x="5608837" y="4635153"/>
            <a:ext cx="3379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0070C0"/>
                </a:solidFill>
                <a:effectLst/>
              </a:rPr>
              <a:t>More </a:t>
            </a:r>
            <a:r>
              <a:rPr lang="fr-FR" sz="2400" dirty="0" err="1">
                <a:solidFill>
                  <a:srgbClr val="0070C0"/>
                </a:solidFill>
                <a:effectLst/>
              </a:rPr>
              <a:t>honest</a:t>
            </a:r>
            <a:r>
              <a:rPr lang="fr-FR" sz="2400" dirty="0">
                <a:solidFill>
                  <a:srgbClr val="0070C0"/>
                </a:solidFill>
                <a:effectLst/>
              </a:rPr>
              <a:t> on </a:t>
            </a:r>
            <a:r>
              <a:rPr lang="fr-FR" sz="2400" dirty="0" err="1">
                <a:solidFill>
                  <a:srgbClr val="0070C0"/>
                </a:solidFill>
                <a:effectLst/>
              </a:rPr>
              <a:t>average</a:t>
            </a:r>
            <a:r>
              <a:rPr lang="fr-FR" sz="2400" dirty="0">
                <a:solidFill>
                  <a:srgbClr val="0070C0"/>
                </a:solidFill>
                <a:effectLst/>
              </a:rPr>
              <a:t>, but more agressive </a:t>
            </a:r>
            <a:r>
              <a:rPr lang="fr-FR" sz="2400" dirty="0" err="1">
                <a:solidFill>
                  <a:srgbClr val="0070C0"/>
                </a:solidFill>
                <a:effectLst/>
              </a:rPr>
              <a:t>individually</a:t>
            </a:r>
            <a:r>
              <a:rPr lang="fr-FR" sz="2400" dirty="0">
                <a:solidFill>
                  <a:srgbClr val="0070C0"/>
                </a:solidFill>
                <a:effectLst/>
              </a:rPr>
              <a:t>? 🤔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9A452FE-9728-F7DF-B78B-8D26940BD5AC}"/>
              </a:ext>
            </a:extLst>
          </p:cNvPr>
          <p:cNvSpPr txBox="1"/>
          <p:nvPr/>
        </p:nvSpPr>
        <p:spPr>
          <a:xfrm>
            <a:off x="5764245" y="2510563"/>
            <a:ext cx="2947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rgbClr val="C00000"/>
                </a:solidFill>
                <a:effectLst/>
              </a:rPr>
              <a:t>Almost</a:t>
            </a:r>
            <a:r>
              <a:rPr lang="fr-FR" sz="2800" dirty="0">
                <a:solidFill>
                  <a:srgbClr val="C00000"/>
                </a:solidFill>
                <a:effectLst/>
              </a:rPr>
              <a:t> </a:t>
            </a:r>
            <a:r>
              <a:rPr lang="fr-FR" sz="2800" b="1" u="sng" dirty="0">
                <a:solidFill>
                  <a:srgbClr val="C00000"/>
                </a:solidFill>
                <a:effectLst/>
              </a:rPr>
              <a:t>1 in 2 </a:t>
            </a:r>
            <a:r>
              <a:rPr lang="fr-FR" sz="2800" dirty="0" err="1">
                <a:solidFill>
                  <a:srgbClr val="C00000"/>
                </a:solidFill>
                <a:effectLst/>
              </a:rPr>
              <a:t>students</a:t>
            </a:r>
            <a:r>
              <a:rPr lang="fr-FR" sz="2800" dirty="0">
                <a:solidFill>
                  <a:srgbClr val="C00000"/>
                </a:solidFill>
                <a:effectLst/>
              </a:rPr>
              <a:t> </a:t>
            </a:r>
            <a:r>
              <a:rPr lang="fr-FR" sz="2800" dirty="0" err="1">
                <a:solidFill>
                  <a:srgbClr val="C00000"/>
                </a:solidFill>
                <a:effectLst/>
              </a:rPr>
              <a:t>had</a:t>
            </a:r>
            <a:r>
              <a:rPr lang="fr-FR" sz="2800" dirty="0">
                <a:solidFill>
                  <a:srgbClr val="C00000"/>
                </a:solidFill>
                <a:effectLst/>
              </a:rPr>
              <a:t> an « </a:t>
            </a:r>
            <a:r>
              <a:rPr lang="fr-FR" sz="2800" dirty="0" err="1">
                <a:solidFill>
                  <a:srgbClr val="C00000"/>
                </a:solidFill>
                <a:effectLst/>
              </a:rPr>
              <a:t>advantage</a:t>
            </a:r>
            <a:r>
              <a:rPr lang="fr-FR" sz="2800" dirty="0">
                <a:solidFill>
                  <a:srgbClr val="C00000"/>
                </a:solidFill>
                <a:effectLst/>
              </a:rPr>
              <a:t> » 😱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98F438F-6ACC-C578-236A-13D60DD9EB82}"/>
              </a:ext>
            </a:extLst>
          </p:cNvPr>
          <p:cNvSpPr txBox="1"/>
          <p:nvPr/>
        </p:nvSpPr>
        <p:spPr>
          <a:xfrm>
            <a:off x="5533899" y="1653140"/>
            <a:ext cx="2790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Showing</a:t>
            </a:r>
            <a:r>
              <a:rPr lang="fr-FR" sz="1600" dirty="0"/>
              <a:t> </a:t>
            </a:r>
            <a:r>
              <a:rPr lang="fr-FR" sz="1600" dirty="0" err="1"/>
              <a:t>only</a:t>
            </a:r>
            <a:r>
              <a:rPr lang="fr-FR" sz="1600" dirty="0"/>
              <a:t> </a:t>
            </a:r>
            <a:r>
              <a:rPr lang="fr-FR" sz="1600" dirty="0" err="1"/>
              <a:t>fields</a:t>
            </a:r>
            <a:r>
              <a:rPr lang="fr-FR" sz="1600" dirty="0"/>
              <a:t> </a:t>
            </a:r>
            <a:r>
              <a:rPr lang="fr-FR" sz="1600" dirty="0" err="1"/>
              <a:t>with</a:t>
            </a:r>
            <a:r>
              <a:rPr lang="fr-FR" sz="1600" dirty="0"/>
              <a:t> N&gt;1000 for </a:t>
            </a:r>
            <a:r>
              <a:rPr lang="fr-FR" sz="1600" dirty="0" err="1"/>
              <a:t>robustness</a:t>
            </a:r>
            <a:endParaRPr lang="fr-FR" sz="1600" dirty="0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4A3A1D91-A55E-57E7-E988-E1F5EFD3FB90}"/>
              </a:ext>
            </a:extLst>
          </p:cNvPr>
          <p:cNvSpPr/>
          <p:nvPr/>
        </p:nvSpPr>
        <p:spPr>
          <a:xfrm>
            <a:off x="2956956" y="2766644"/>
            <a:ext cx="2838202" cy="510946"/>
          </a:xfrm>
          <a:custGeom>
            <a:avLst/>
            <a:gdLst>
              <a:gd name="csX0" fmla="*/ 2838202 w 2838202"/>
              <a:gd name="csY0" fmla="*/ 451569 h 510946"/>
              <a:gd name="csX1" fmla="*/ 1520041 w 2838202"/>
              <a:gd name="csY1" fmla="*/ 307 h 510946"/>
              <a:gd name="csX2" fmla="*/ 0 w 2838202"/>
              <a:gd name="csY2" fmla="*/ 510946 h 510946"/>
              <a:gd name="csX3" fmla="*/ 0 w 2838202"/>
              <a:gd name="csY3" fmla="*/ 510946 h 510946"/>
              <a:gd name="csX4" fmla="*/ 0 w 2838202"/>
              <a:gd name="csY4" fmla="*/ 510946 h 510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38202" h="510946">
                <a:moveTo>
                  <a:pt x="2838202" y="451569"/>
                </a:moveTo>
                <a:cubicBezTo>
                  <a:pt x="2415638" y="220990"/>
                  <a:pt x="1993075" y="-9589"/>
                  <a:pt x="1520041" y="307"/>
                </a:cubicBezTo>
                <a:cubicBezTo>
                  <a:pt x="1047007" y="10203"/>
                  <a:pt x="0" y="510946"/>
                  <a:pt x="0" y="510946"/>
                </a:cubicBezTo>
                <a:lnTo>
                  <a:pt x="0" y="510946"/>
                </a:lnTo>
                <a:lnTo>
                  <a:pt x="0" y="510946"/>
                </a:lnTo>
              </a:path>
            </a:pathLst>
          </a:custGeom>
          <a:noFill/>
          <a:ln w="4445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48B5B460-E61D-94B5-5E67-D794D1DE457B}"/>
              </a:ext>
            </a:extLst>
          </p:cNvPr>
          <p:cNvSpPr/>
          <p:nvPr/>
        </p:nvSpPr>
        <p:spPr>
          <a:xfrm>
            <a:off x="3705101" y="4975761"/>
            <a:ext cx="2173185" cy="355507"/>
          </a:xfrm>
          <a:custGeom>
            <a:avLst/>
            <a:gdLst>
              <a:gd name="csX0" fmla="*/ 2173185 w 2173185"/>
              <a:gd name="csY0" fmla="*/ 237507 h 355507"/>
              <a:gd name="csX1" fmla="*/ 1092530 w 2173185"/>
              <a:gd name="csY1" fmla="*/ 344384 h 355507"/>
              <a:gd name="csX2" fmla="*/ 0 w 2173185"/>
              <a:gd name="csY2" fmla="*/ 0 h 355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73185" h="355507">
                <a:moveTo>
                  <a:pt x="2173185" y="237507"/>
                </a:moveTo>
                <a:cubicBezTo>
                  <a:pt x="1813956" y="310737"/>
                  <a:pt x="1454727" y="383968"/>
                  <a:pt x="1092530" y="344384"/>
                </a:cubicBezTo>
                <a:cubicBezTo>
                  <a:pt x="730333" y="304800"/>
                  <a:pt x="365166" y="152400"/>
                  <a:pt x="0" y="0"/>
                </a:cubicBezTo>
              </a:path>
            </a:pathLst>
          </a:custGeom>
          <a:noFill/>
          <a:ln w="44450">
            <a:solidFill>
              <a:srgbClr val="0070C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BE27766-85F8-5895-B18B-2945DA33B466}"/>
              </a:ext>
            </a:extLst>
          </p:cNvPr>
          <p:cNvSpPr txBox="1"/>
          <p:nvPr/>
        </p:nvSpPr>
        <p:spPr>
          <a:xfrm>
            <a:off x="3801860" y="4471547"/>
            <a:ext cx="154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Computer science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D01A0A-AEA9-2D59-C07C-C3977C493A84}"/>
              </a:ext>
            </a:extLst>
          </p:cNvPr>
          <p:cNvSpPr txBox="1"/>
          <p:nvPr/>
        </p:nvSpPr>
        <p:spPr>
          <a:xfrm>
            <a:off x="1301504" y="3121223"/>
            <a:ext cx="154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Chem </a:t>
            </a:r>
            <a:r>
              <a:rPr lang="fr-FR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eng</a:t>
            </a:r>
            <a:r>
              <a:rPr lang="fr-FR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062834-9D1A-998E-42B7-5B03E3872119}"/>
              </a:ext>
            </a:extLst>
          </p:cNvPr>
          <p:cNvSpPr txBox="1"/>
          <p:nvPr/>
        </p:nvSpPr>
        <p:spPr>
          <a:xfrm>
            <a:off x="3030006" y="3223076"/>
            <a:ext cx="154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Surg</a:t>
            </a:r>
            <a:r>
              <a:rPr lang="fr-F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 dent.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C5A7FAA-782F-CF83-5C8B-B8F41BE0BD18}"/>
              </a:ext>
            </a:extLst>
          </p:cNvPr>
          <p:cNvSpPr txBox="1"/>
          <p:nvPr/>
        </p:nvSpPr>
        <p:spPr>
          <a:xfrm>
            <a:off x="1596244" y="3402723"/>
            <a:ext cx="154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5">
                    <a:lumMod val="75000"/>
                  </a:schemeClr>
                </a:solidFill>
              </a:rPr>
              <a:t>Economy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1835CF7-6F36-86F3-BD15-F6B651556459}"/>
              </a:ext>
            </a:extLst>
          </p:cNvPr>
          <p:cNvSpPr txBox="1"/>
          <p:nvPr/>
        </p:nvSpPr>
        <p:spPr>
          <a:xfrm>
            <a:off x="1826589" y="3637542"/>
            <a:ext cx="154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Pedagogy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62039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11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420F5C9-0013-0D13-7BAC-CADC8C85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Did</a:t>
            </a:r>
            <a:r>
              <a:rPr lang="fr-FR" dirty="0"/>
              <a:t> </a:t>
            </a:r>
            <a:r>
              <a:rPr lang="fr-FR" dirty="0" err="1"/>
              <a:t>students</a:t>
            </a:r>
            <a:r>
              <a:rPr lang="fr-FR" dirty="0"/>
              <a:t> </a:t>
            </a:r>
            <a:r>
              <a:rPr lang="fr-FR" dirty="0" err="1"/>
              <a:t>cheat</a:t>
            </a:r>
            <a:r>
              <a:rPr lang="fr-FR" dirty="0"/>
              <a:t>?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0A1544-07F8-A4F5-6DFC-33879EF3B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Yes</a:t>
            </a:r>
          </a:p>
          <a:p>
            <a:pPr lvl="1"/>
            <a:r>
              <a:rPr lang="fr-FR" dirty="0"/>
              <a:t>« I </a:t>
            </a:r>
            <a:r>
              <a:rPr lang="fr-FR" dirty="0" err="1"/>
              <a:t>got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medical</a:t>
            </a:r>
            <a:r>
              <a:rPr lang="fr-FR" dirty="0"/>
              <a:t> </a:t>
            </a:r>
            <a:r>
              <a:rPr lang="fr-FR" dirty="0" err="1"/>
              <a:t>school</a:t>
            </a:r>
            <a:r>
              <a:rPr lang="fr-FR" dirty="0"/>
              <a:t>, </a:t>
            </a:r>
            <a:r>
              <a:rPr lang="fr-FR" dirty="0" err="1"/>
              <a:t>thanks</a:t>
            </a:r>
            <a:r>
              <a:rPr lang="fr-FR" dirty="0"/>
              <a:t> </a:t>
            </a:r>
            <a:r>
              <a:rPr lang="fr-FR" dirty="0" err="1"/>
              <a:t>chatgpt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first </a:t>
            </a:r>
            <a:r>
              <a:rPr lang="fr-FR" dirty="0" err="1"/>
              <a:t>takers</a:t>
            </a:r>
            <a:r>
              <a:rPr lang="fr-FR" dirty="0"/>
              <a:t> </a:t>
            </a:r>
            <a:r>
              <a:rPr lang="fr-FR" dirty="0" err="1"/>
              <a:t>sold</a:t>
            </a:r>
            <a:r>
              <a:rPr lang="fr-FR" dirty="0"/>
              <a:t> </a:t>
            </a:r>
            <a:r>
              <a:rPr lang="fr-FR" dirty="0" err="1"/>
              <a:t>answers</a:t>
            </a:r>
            <a:r>
              <a:rPr lang="fr-FR" dirty="0"/>
              <a:t> to </a:t>
            </a:r>
            <a:r>
              <a:rPr lang="fr-FR" dirty="0" err="1"/>
              <a:t>late</a:t>
            </a:r>
            <a:r>
              <a:rPr lang="fr-FR" dirty="0"/>
              <a:t> </a:t>
            </a:r>
            <a:r>
              <a:rPr lang="fr-FR" dirty="0" err="1"/>
              <a:t>takers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But…</a:t>
            </a:r>
          </a:p>
          <a:p>
            <a:pPr lvl="1"/>
            <a:r>
              <a:rPr lang="fr-FR" dirty="0"/>
              <a:t>innocent </a:t>
            </a:r>
            <a:r>
              <a:rPr lang="fr-FR" dirty="0" err="1"/>
              <a:t>until</a:t>
            </a:r>
            <a:r>
              <a:rPr lang="fr-FR" dirty="0"/>
              <a:t> </a:t>
            </a:r>
            <a:r>
              <a:rPr lang="fr-FR" dirty="0" err="1"/>
              <a:t>proven</a:t>
            </a:r>
            <a:r>
              <a:rPr lang="fr-FR" dirty="0"/>
              <a:t> </a:t>
            </a:r>
            <a:r>
              <a:rPr lang="fr-FR" dirty="0" err="1"/>
              <a:t>guilty</a:t>
            </a:r>
            <a:r>
              <a:rPr lang="fr-FR" dirty="0"/>
              <a:t>: </a:t>
            </a:r>
            <a:r>
              <a:rPr lang="fr-FR" dirty="0" err="1"/>
              <a:t>individual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 </a:t>
            </a:r>
            <a:r>
              <a:rPr lang="fr-FR" dirty="0" err="1"/>
              <a:t>require</a:t>
            </a:r>
            <a:r>
              <a:rPr lang="fr-FR" dirty="0"/>
              <a:t> </a:t>
            </a:r>
            <a:r>
              <a:rPr lang="fr-FR" dirty="0" err="1"/>
              <a:t>individual</a:t>
            </a:r>
            <a:r>
              <a:rPr lang="fr-FR" dirty="0"/>
              <a:t> investigation</a:t>
            </a:r>
          </a:p>
          <a:p>
            <a:pPr lvl="2"/>
            <a:r>
              <a:rPr lang="fr-FR" dirty="0"/>
              <a:t>a </a:t>
            </a:r>
            <a:r>
              <a:rPr lang="fr-FR" dirty="0" err="1"/>
              <a:t>probability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sufficient</a:t>
            </a:r>
            <a:r>
              <a:rPr lang="fr-FR" dirty="0"/>
              <a:t> to </a:t>
            </a:r>
            <a:r>
              <a:rPr lang="fr-FR" dirty="0" err="1"/>
              <a:t>incriminate</a:t>
            </a:r>
            <a:endParaRPr lang="fr-FR" dirty="0"/>
          </a:p>
          <a:p>
            <a:pPr lvl="1"/>
            <a:r>
              <a:rPr lang="fr-FR" dirty="0" err="1"/>
              <a:t>this</a:t>
            </a:r>
            <a:r>
              <a:rPr lang="fr-FR" dirty="0"/>
              <a:t> (</a:t>
            </a:r>
            <a:r>
              <a:rPr lang="fr-FR" dirty="0" err="1"/>
              <a:t>simplistic</a:t>
            </a:r>
            <a:r>
              <a:rPr lang="fr-FR" dirty="0"/>
              <a:t>) model </a:t>
            </a:r>
            <a:r>
              <a:rPr lang="fr-FR" dirty="0" err="1"/>
              <a:t>proves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are 2 populations, not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are and </a:t>
            </a:r>
            <a:r>
              <a:rPr lang="fr-FR" dirty="0" err="1"/>
              <a:t>why</a:t>
            </a:r>
            <a:endParaRPr lang="fr-FR" dirty="0"/>
          </a:p>
          <a:p>
            <a:pPr lvl="2"/>
            <a:r>
              <a:rPr lang="fr-FR" dirty="0" err="1"/>
              <a:t>remote</a:t>
            </a:r>
            <a:r>
              <a:rPr lang="fr-FR" dirty="0"/>
              <a:t> = </a:t>
            </a:r>
            <a:r>
              <a:rPr lang="fr-FR" dirty="0" err="1"/>
              <a:t>less</a:t>
            </a:r>
            <a:r>
              <a:rPr lang="fr-FR" dirty="0"/>
              <a:t> stress = </a:t>
            </a:r>
            <a:r>
              <a:rPr lang="fr-FR" dirty="0" err="1"/>
              <a:t>better</a:t>
            </a:r>
            <a:r>
              <a:rPr lang="fr-FR" dirty="0"/>
              <a:t> grades?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2A15862-F150-7FE1-36BD-5AF8C559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5" name="Image 4" descr="Quedé en medicina; gracias, ChatGPT”: aspirantes aceptan que usaron IA en  el examen de la UNAM 2026">
            <a:extLst>
              <a:ext uri="{FF2B5EF4-FFF2-40B4-BE49-F238E27FC236}">
                <a16:creationId xmlns:a16="http://schemas.microsoft.com/office/drawing/2014/main" id="{5732DE73-1D2B-0F33-9EA3-34D57D271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980" y="1427511"/>
            <a:ext cx="3824385" cy="8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00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74884-A63A-1CDE-1911-E0C35797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National </a:t>
            </a:r>
            <a:r>
              <a:rPr lang="fr-FR" sz="3600" dirty="0" err="1"/>
              <a:t>scandal</a:t>
            </a:r>
            <a:r>
              <a:rPr lang="fr-FR" sz="3600" dirty="0"/>
              <a:t>: </a:t>
            </a:r>
            <a:r>
              <a:rPr lang="fr-FR" sz="3600" dirty="0" err="1"/>
              <a:t>UNAM’s</a:t>
            </a:r>
            <a:r>
              <a:rPr lang="fr-FR" sz="3600" dirty="0"/>
              <a:t> </a:t>
            </a:r>
            <a:r>
              <a:rPr lang="fr-FR" sz="3600" dirty="0" err="1"/>
              <a:t>responsibility</a:t>
            </a: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FA55C6-00BA-1A10-3F98-85A578F71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A stands for « </a:t>
            </a:r>
            <a:r>
              <a:rPr lang="fr-FR" sz="2400" dirty="0" err="1"/>
              <a:t>Autonomous</a:t>
            </a:r>
            <a:r>
              <a:rPr lang="fr-FR" sz="2400" dirty="0"/>
              <a:t> »</a:t>
            </a:r>
          </a:p>
          <a:p>
            <a:pPr lvl="1"/>
            <a:r>
              <a:rPr lang="fr-FR" sz="2000" dirty="0"/>
              <a:t>Independent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gov</a:t>
            </a:r>
            <a:r>
              <a:rPr lang="fr-FR" sz="2000" dirty="0"/>
              <a:t>, </a:t>
            </a:r>
            <a:r>
              <a:rPr lang="fr-FR" sz="2000" dirty="0" err="1"/>
              <a:t>very</a:t>
            </a:r>
            <a:r>
              <a:rPr lang="fr-FR" sz="2000" dirty="0"/>
              <a:t> </a:t>
            </a:r>
            <a:r>
              <a:rPr lang="fr-FR" sz="2000" dirty="0" err="1"/>
              <a:t>bad</a:t>
            </a:r>
            <a:r>
              <a:rPr lang="fr-FR" sz="2000" dirty="0"/>
              <a:t> for </a:t>
            </a:r>
            <a:r>
              <a:rPr lang="fr-FR" sz="2000" dirty="0" err="1"/>
              <a:t>UNAM’s</a:t>
            </a:r>
            <a:r>
              <a:rPr lang="fr-FR" sz="2000" dirty="0"/>
              <a:t> </a:t>
            </a:r>
            <a:r>
              <a:rPr lang="fr-FR" sz="2000" dirty="0" err="1"/>
              <a:t>reputation</a:t>
            </a:r>
            <a:endParaRPr lang="fr-FR" sz="2000" dirty="0"/>
          </a:p>
          <a:p>
            <a:r>
              <a:rPr lang="fr-FR" sz="2400" dirty="0"/>
              <a:t>Very </a:t>
            </a:r>
            <a:r>
              <a:rPr lang="fr-FR" sz="2400" dirty="0" err="1"/>
              <a:t>expensive</a:t>
            </a:r>
            <a:r>
              <a:rPr lang="fr-FR" sz="2400" dirty="0"/>
              <a:t> </a:t>
            </a:r>
            <a:r>
              <a:rPr lang="fr-FR" sz="2400" dirty="0" err="1"/>
              <a:t>lesson</a:t>
            </a:r>
            <a:r>
              <a:rPr lang="fr-FR" sz="2400" dirty="0"/>
              <a:t> for UNAM</a:t>
            </a:r>
          </a:p>
          <a:p>
            <a:pPr lvl="1"/>
            <a:r>
              <a:rPr lang="fr-FR" sz="2000" dirty="0"/>
              <a:t>Was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worth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r>
              <a:rPr lang="fr-FR" sz="2000" dirty="0"/>
              <a:t>…?</a:t>
            </a:r>
          </a:p>
          <a:p>
            <a:r>
              <a:rPr lang="fr-FR" sz="2400" dirty="0" err="1"/>
              <a:t>Students</a:t>
            </a:r>
            <a:r>
              <a:rPr lang="fr-FR" sz="2400" dirty="0"/>
              <a:t> </a:t>
            </a:r>
            <a:r>
              <a:rPr lang="fr-FR" sz="2400" dirty="0" err="1"/>
              <a:t>went</a:t>
            </a:r>
            <a:r>
              <a:rPr lang="fr-FR" sz="2400" dirty="0"/>
              <a:t> on strike: </a:t>
            </a:r>
            <a:r>
              <a:rPr lang="fr-FR" sz="2400" dirty="0" err="1"/>
              <a:t>demands</a:t>
            </a:r>
            <a:r>
              <a:rPr lang="fr-FR" sz="2400" dirty="0"/>
              <a:t> to </a:t>
            </a:r>
            <a:r>
              <a:rPr lang="fr-FR" sz="2400" dirty="0" err="1"/>
              <a:t>retake</a:t>
            </a:r>
            <a:r>
              <a:rPr lang="fr-FR" sz="2400" dirty="0"/>
              <a:t> in-</a:t>
            </a:r>
            <a:r>
              <a:rPr lang="fr-FR" sz="2400" dirty="0" err="1"/>
              <a:t>person</a:t>
            </a:r>
            <a:endParaRPr lang="fr-FR" sz="2400" dirty="0"/>
          </a:p>
          <a:p>
            <a:pPr lvl="1"/>
            <a:r>
              <a:rPr lang="fr-FR" sz="2000" dirty="0"/>
              <a:t>If not, </a:t>
            </a:r>
            <a:r>
              <a:rPr lang="fr-FR" sz="2000" dirty="0" err="1"/>
              <a:t>taking</a:t>
            </a:r>
            <a:r>
              <a:rPr lang="fr-FR" sz="2000" dirty="0"/>
              <a:t> the best </a:t>
            </a:r>
            <a:r>
              <a:rPr lang="fr-FR" sz="2000" dirty="0" err="1"/>
              <a:t>students</a:t>
            </a:r>
            <a:r>
              <a:rPr lang="fr-FR" sz="2000" dirty="0"/>
              <a:t> </a:t>
            </a:r>
            <a:r>
              <a:rPr lang="fr-FR" sz="2000" dirty="0" err="1"/>
              <a:t>results</a:t>
            </a:r>
            <a:r>
              <a:rPr lang="fr-FR" sz="2000" dirty="0"/>
              <a:t> in &gt;90% of « </a:t>
            </a:r>
            <a:r>
              <a:rPr lang="fr-FR" sz="2000" dirty="0" err="1"/>
              <a:t>boosted</a:t>
            </a:r>
            <a:r>
              <a:rPr lang="fr-FR" sz="2000" dirty="0"/>
              <a:t> »</a:t>
            </a:r>
          </a:p>
          <a:p>
            <a:pPr lvl="1"/>
            <a:r>
              <a:rPr lang="fr-FR" sz="2000" dirty="0" err="1"/>
              <a:t>Granted</a:t>
            </a:r>
            <a:r>
              <a:rPr lang="fr-FR" sz="2000" dirty="0"/>
              <a:t>!</a:t>
            </a:r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0BF4A0-AE87-83FB-D7E1-B6DE35AD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5" name="Image 4" descr="La Jornada - Marchan en CU; exigen examen de ingreso presencial">
            <a:extLst>
              <a:ext uri="{FF2B5EF4-FFF2-40B4-BE49-F238E27FC236}">
                <a16:creationId xmlns:a16="http://schemas.microsoft.com/office/drawing/2014/main" id="{FD755DE5-0932-8743-C2E1-7ED574E9C6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62"/>
          <a:stretch>
            <a:fillRect/>
          </a:stretch>
        </p:blipFill>
        <p:spPr>
          <a:xfrm>
            <a:off x="4842457" y="4262620"/>
            <a:ext cx="4211392" cy="2495020"/>
          </a:xfrm>
          <a:prstGeom prst="rect">
            <a:avLst/>
          </a:prstGeom>
        </p:spPr>
      </p:pic>
      <p:pic>
        <p:nvPicPr>
          <p:cNvPr id="6" name="Image 5" descr="Marcha por examen UNAM HOY 27 julio: Últimas noticias EN VIVO- Grupo Milenio">
            <a:extLst>
              <a:ext uri="{FF2B5EF4-FFF2-40B4-BE49-F238E27FC236}">
                <a16:creationId xmlns:a16="http://schemas.microsoft.com/office/drawing/2014/main" id="{22150581-7694-6031-CD61-A524A79AD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62" y="4613999"/>
            <a:ext cx="3801094" cy="21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67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CACD3-3C09-F38A-AD16-AE0342A5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role</a:t>
            </a:r>
            <a:r>
              <a:rPr lang="fr-FR" dirty="0"/>
              <a:t> of AI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B514D2-28C1-2F82-9B7B-33B53A60E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Yes, AI enables and </a:t>
            </a:r>
            <a:r>
              <a:rPr lang="fr-FR" sz="2400" dirty="0" err="1"/>
              <a:t>facilitates</a:t>
            </a:r>
            <a:r>
              <a:rPr lang="fr-FR" sz="2400" dirty="0"/>
              <a:t> </a:t>
            </a:r>
            <a:r>
              <a:rPr lang="fr-FR" sz="2400" dirty="0" err="1"/>
              <a:t>cheating</a:t>
            </a:r>
            <a:endParaRPr lang="fr-FR" sz="2400" dirty="0"/>
          </a:p>
          <a:p>
            <a:r>
              <a:rPr lang="fr-FR" sz="2400" b="1" dirty="0"/>
              <a:t>Banning AI </a:t>
            </a:r>
            <a:r>
              <a:rPr lang="fr-FR" sz="2400" b="1" dirty="0" err="1"/>
              <a:t>will</a:t>
            </a:r>
            <a:r>
              <a:rPr lang="fr-FR" sz="2400" b="1" dirty="0"/>
              <a:t> not solve </a:t>
            </a:r>
            <a:r>
              <a:rPr lang="fr-FR" sz="2400" b="1" dirty="0" err="1"/>
              <a:t>our</a:t>
            </a:r>
            <a:r>
              <a:rPr lang="fr-FR" sz="2400" b="1" dirty="0"/>
              <a:t> </a:t>
            </a:r>
            <a:r>
              <a:rPr lang="fr-FR" sz="2400" b="1" dirty="0" err="1"/>
              <a:t>problems</a:t>
            </a:r>
            <a:endParaRPr lang="fr-FR" sz="2400" b="1" dirty="0"/>
          </a:p>
          <a:p>
            <a:r>
              <a:rPr lang="fr-FR" sz="2400" dirty="0" err="1"/>
              <a:t>My</a:t>
            </a:r>
            <a:r>
              <a:rPr lang="fr-FR" sz="2400" dirty="0"/>
              <a:t> hot </a:t>
            </a:r>
            <a:r>
              <a:rPr lang="fr-FR" sz="2400" dirty="0" err="1"/>
              <a:t>take</a:t>
            </a:r>
            <a:r>
              <a:rPr lang="fr-FR" sz="2400" dirty="0"/>
              <a:t>: </a:t>
            </a:r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need</a:t>
            </a:r>
            <a:r>
              <a:rPr lang="fr-FR" sz="2400" dirty="0"/>
              <a:t> to stop </a:t>
            </a:r>
            <a:r>
              <a:rPr lang="fr-FR" sz="2400" dirty="0" err="1"/>
              <a:t>using</a:t>
            </a:r>
            <a:r>
              <a:rPr lang="fr-FR" sz="2400" dirty="0"/>
              <a:t> AI as a </a:t>
            </a:r>
            <a:r>
              <a:rPr lang="fr-FR" sz="2400" dirty="0" err="1"/>
              <a:t>scapegoat</a:t>
            </a:r>
            <a:r>
              <a:rPr lang="fr-FR" sz="2400" dirty="0"/>
              <a:t>, and face and solve the real </a:t>
            </a:r>
            <a:r>
              <a:rPr lang="fr-FR" sz="2400" dirty="0" err="1"/>
              <a:t>problem</a:t>
            </a:r>
            <a:r>
              <a:rPr lang="fr-FR" sz="2400" dirty="0"/>
              <a:t>(s).</a:t>
            </a:r>
          </a:p>
          <a:p>
            <a:pPr lvl="1"/>
            <a:r>
              <a:rPr lang="fr-FR" sz="2000" dirty="0" err="1"/>
              <a:t>Cheating</a:t>
            </a:r>
            <a:r>
              <a:rPr lang="fr-FR" sz="2000" dirty="0"/>
              <a:t> </a:t>
            </a:r>
            <a:r>
              <a:rPr lang="fr-FR" sz="2000" dirty="0" err="1"/>
              <a:t>existed</a:t>
            </a:r>
            <a:r>
              <a:rPr lang="fr-FR" sz="2000" dirty="0"/>
              <a:t> </a:t>
            </a:r>
            <a:r>
              <a:rPr lang="fr-FR" sz="2000" dirty="0" err="1"/>
              <a:t>forever</a:t>
            </a:r>
            <a:endParaRPr lang="fr-FR" sz="2000" dirty="0"/>
          </a:p>
          <a:p>
            <a:pPr lvl="1"/>
            <a:r>
              <a:rPr lang="fr-FR" sz="2000" dirty="0" err="1"/>
              <a:t>We</a:t>
            </a:r>
            <a:r>
              <a:rPr lang="fr-FR" sz="2000" dirty="0"/>
              <a:t> </a:t>
            </a:r>
            <a:r>
              <a:rPr lang="fr-FR" sz="2000" dirty="0" err="1"/>
              <a:t>already</a:t>
            </a:r>
            <a:r>
              <a:rPr lang="fr-FR" sz="2000" dirty="0"/>
              <a:t> </a:t>
            </a:r>
            <a:r>
              <a:rPr lang="fr-FR" sz="2000" dirty="0" err="1"/>
              <a:t>knew</a:t>
            </a:r>
            <a:r>
              <a:rPr lang="fr-FR" sz="2000" dirty="0"/>
              <a:t> about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since</a:t>
            </a:r>
            <a:r>
              <a:rPr lang="fr-FR" sz="2000" dirty="0"/>
              <a:t> </a:t>
            </a:r>
            <a:br>
              <a:rPr lang="fr-FR" sz="2000" dirty="0"/>
            </a:br>
            <a:r>
              <a:rPr lang="fr-FR" sz="2000" dirty="0"/>
              <a:t>COVID (exams </a:t>
            </a:r>
            <a:r>
              <a:rPr lang="fr-FR" sz="2000" dirty="0" err="1"/>
              <a:t>turned</a:t>
            </a:r>
            <a:r>
              <a:rPr lang="fr-FR" sz="2000" dirty="0"/>
              <a:t> </a:t>
            </a:r>
            <a:r>
              <a:rPr lang="fr-FR" sz="2000" dirty="0" err="1"/>
              <a:t>remotely</a:t>
            </a:r>
            <a:r>
              <a:rPr lang="fr-FR" sz="2000" dirty="0"/>
              <a:t>), </a:t>
            </a:r>
            <a:br>
              <a:rPr lang="fr-FR" sz="2000" dirty="0"/>
            </a:br>
            <a:r>
              <a:rPr lang="fr-FR" sz="2000" dirty="0" err="1"/>
              <a:t>now</a:t>
            </a:r>
            <a:r>
              <a:rPr lang="fr-FR" sz="2000" dirty="0"/>
              <a:t> </a:t>
            </a:r>
            <a:r>
              <a:rPr lang="fr-FR" sz="2000" dirty="0" err="1"/>
              <a:t>we</a:t>
            </a:r>
            <a:r>
              <a:rPr lang="fr-FR" sz="2000" dirty="0"/>
              <a:t> have </a:t>
            </a:r>
            <a:r>
              <a:rPr lang="fr-FR" sz="2000" dirty="0" err="1"/>
              <a:t>statistics</a:t>
            </a:r>
            <a:endParaRPr lang="fr-FR" sz="20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5BF8D6-27CD-D12E-B907-D11BCEC7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F973049-9E5A-67C3-1D35-57D239657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853" y="3756999"/>
            <a:ext cx="3615475" cy="281807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21E4EC4-F55C-4F6B-E64B-95759A34B4ED}"/>
              </a:ext>
            </a:extLst>
          </p:cNvPr>
          <p:cNvSpPr txBox="1"/>
          <p:nvPr/>
        </p:nvSpPr>
        <p:spPr>
          <a:xfrm>
            <a:off x="535413" y="5005417"/>
            <a:ext cx="48896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70C0"/>
                </a:solidFill>
              </a:rPr>
              <a:t>Histogram</a:t>
            </a:r>
            <a:r>
              <a:rPr lang="fr-FR" sz="1600" dirty="0">
                <a:solidFill>
                  <a:srgbClr val="0070C0"/>
                </a:solidFill>
              </a:rPr>
              <a:t> of final exam grades </a:t>
            </a:r>
            <a:r>
              <a:rPr lang="fr-FR" sz="1600" dirty="0" err="1">
                <a:solidFill>
                  <a:srgbClr val="0070C0"/>
                </a:solidFill>
              </a:rPr>
              <a:t>during</a:t>
            </a:r>
            <a:r>
              <a:rPr lang="fr-FR" sz="1600" dirty="0">
                <a:solidFill>
                  <a:srgbClr val="0070C0"/>
                </a:solidFill>
              </a:rPr>
              <a:t> COVID (May 2020, France): </a:t>
            </a:r>
            <a:r>
              <a:rPr lang="fr-FR" sz="1600" dirty="0" err="1">
                <a:solidFill>
                  <a:srgbClr val="0070C0"/>
                </a:solidFill>
              </a:rPr>
              <a:t>physics</a:t>
            </a:r>
            <a:r>
              <a:rPr lang="fr-FR" sz="1600" dirty="0">
                <a:solidFill>
                  <a:srgbClr val="0070C0"/>
                </a:solidFill>
              </a:rPr>
              <a:t>, junior (L3), 19 </a:t>
            </a:r>
            <a:r>
              <a:rPr lang="fr-FR" sz="1600" dirty="0" err="1">
                <a:solidFill>
                  <a:srgbClr val="0070C0"/>
                </a:solidFill>
              </a:rPr>
              <a:t>students</a:t>
            </a:r>
            <a:r>
              <a:rPr lang="fr-FR" sz="1600" dirty="0">
                <a:solidFill>
                  <a:srgbClr val="0070C0"/>
                </a:solidFill>
              </a:rPr>
              <a:t>. </a:t>
            </a:r>
            <a:r>
              <a:rPr lang="fr-FR" sz="1600" dirty="0" err="1">
                <a:solidFill>
                  <a:srgbClr val="0070C0"/>
                </a:solidFill>
              </a:rPr>
              <a:t>Stacked</a:t>
            </a:r>
            <a:r>
              <a:rPr lang="fr-FR" sz="1600" dirty="0">
                <a:solidFill>
                  <a:srgbClr val="0070C0"/>
                </a:solidFill>
              </a:rPr>
              <a:t> </a:t>
            </a:r>
            <a:r>
              <a:rPr lang="fr-FR" sz="1600" dirty="0" err="1">
                <a:solidFill>
                  <a:srgbClr val="0070C0"/>
                </a:solidFill>
              </a:rPr>
              <a:t>histogram</a:t>
            </a:r>
            <a:r>
              <a:rPr lang="fr-FR" sz="1600" dirty="0">
                <a:solidFill>
                  <a:srgbClr val="0070C0"/>
                </a:solidFill>
              </a:rPr>
              <a:t> </a:t>
            </a:r>
            <a:r>
              <a:rPr lang="fr-FR" sz="1600" dirty="0" err="1">
                <a:solidFill>
                  <a:srgbClr val="0070C0"/>
                </a:solidFill>
              </a:rPr>
              <a:t>showing</a:t>
            </a:r>
            <a:r>
              <a:rPr lang="fr-FR" sz="1600" dirty="0">
                <a:solidFill>
                  <a:srgbClr val="0070C0"/>
                </a:solidFill>
              </a:rPr>
              <a:t> bimodal distribution. 2021 and 2022 do not have </a:t>
            </a:r>
            <a:r>
              <a:rPr lang="fr-FR" sz="1600" dirty="0" err="1">
                <a:solidFill>
                  <a:srgbClr val="0070C0"/>
                </a:solidFill>
              </a:rPr>
              <a:t>bimodality</a:t>
            </a:r>
            <a:r>
              <a:rPr lang="fr-FR" sz="1600" dirty="0">
                <a:solidFill>
                  <a:srgbClr val="0070C0"/>
                </a:solidFill>
              </a:rPr>
              <a:t>.</a:t>
            </a:r>
          </a:p>
          <a:p>
            <a:endParaRPr lang="fr-FR" sz="1600" dirty="0">
              <a:solidFill>
                <a:srgbClr val="0070C0"/>
              </a:solidFill>
            </a:endParaRPr>
          </a:p>
          <a:p>
            <a:r>
              <a:rPr lang="fr-FR" sz="1600" dirty="0" err="1">
                <a:solidFill>
                  <a:srgbClr val="C00000"/>
                </a:solidFill>
              </a:rPr>
              <a:t>Cheaters</a:t>
            </a:r>
            <a:r>
              <a:rPr lang="fr-FR" sz="1600" dirty="0">
                <a:solidFill>
                  <a:srgbClr val="C00000"/>
                </a:solidFill>
              </a:rPr>
              <a:t> </a:t>
            </a:r>
            <a:r>
              <a:rPr lang="fr-FR" sz="1600" dirty="0" err="1">
                <a:solidFill>
                  <a:srgbClr val="C00000"/>
                </a:solidFill>
              </a:rPr>
              <a:t>were</a:t>
            </a:r>
            <a:r>
              <a:rPr lang="fr-FR" sz="1600" dirty="0">
                <a:solidFill>
                  <a:srgbClr val="C00000"/>
                </a:solidFill>
              </a:rPr>
              <a:t> </a:t>
            </a:r>
            <a:r>
              <a:rPr lang="fr-FR" sz="1600" dirty="0" err="1">
                <a:solidFill>
                  <a:srgbClr val="C00000"/>
                </a:solidFill>
              </a:rPr>
              <a:t>identified</a:t>
            </a:r>
            <a:r>
              <a:rPr lang="fr-FR" sz="1600" dirty="0">
                <a:solidFill>
                  <a:srgbClr val="C00000"/>
                </a:solidFill>
              </a:rPr>
              <a:t> case by case, and </a:t>
            </a:r>
            <a:r>
              <a:rPr lang="fr-FR" sz="1600" dirty="0" err="1">
                <a:solidFill>
                  <a:srgbClr val="C00000"/>
                </a:solidFill>
              </a:rPr>
              <a:t>reported</a:t>
            </a:r>
            <a:r>
              <a:rPr lang="fr-FR" sz="1600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165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79ABDB-A58D-927B-2FF9-7F67C90D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2020 vs 2021 vs 2022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394C04F-1375-99AB-1625-99C1D6B1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A868EA9-09DC-2F91-8446-5663FEDAE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8" y="2588258"/>
            <a:ext cx="4103965" cy="319883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751D451-D064-A5D3-62E8-96B81D763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629" y="1368716"/>
            <a:ext cx="4251719" cy="26289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078BB78-47F5-8860-95BA-328B9243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629" y="4174794"/>
            <a:ext cx="4251720" cy="262898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6A00ADD-F638-C5E5-5560-585A819FDFCA}"/>
              </a:ext>
            </a:extLst>
          </p:cNvPr>
          <p:cNvSpPr txBox="1"/>
          <p:nvPr/>
        </p:nvSpPr>
        <p:spPr>
          <a:xfrm>
            <a:off x="1821514" y="2683206"/>
            <a:ext cx="124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C00000"/>
                </a:solidFill>
              </a:rPr>
              <a:t>2020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8CA60A4-F018-8B4C-A7CF-6DBF8885CE3D}"/>
              </a:ext>
            </a:extLst>
          </p:cNvPr>
          <p:cNvSpPr txBox="1"/>
          <p:nvPr/>
        </p:nvSpPr>
        <p:spPr>
          <a:xfrm>
            <a:off x="6236821" y="1552028"/>
            <a:ext cx="124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C00000"/>
                </a:solidFill>
              </a:rPr>
              <a:t>2021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658A53-21BE-0DC9-3679-519A8C4EAF92}"/>
              </a:ext>
            </a:extLst>
          </p:cNvPr>
          <p:cNvSpPr txBox="1"/>
          <p:nvPr/>
        </p:nvSpPr>
        <p:spPr>
          <a:xfrm>
            <a:off x="7058923" y="4435700"/>
            <a:ext cx="124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C00000"/>
                </a:solidFill>
              </a:rPr>
              <a:t>2022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786FF2B-45D4-91BC-CEF8-FB3084C0A152}"/>
              </a:ext>
            </a:extLst>
          </p:cNvPr>
          <p:cNvSpPr txBox="1"/>
          <p:nvPr/>
        </p:nvSpPr>
        <p:spPr>
          <a:xfrm>
            <a:off x="82388" y="1704436"/>
            <a:ext cx="3287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rgbClr val="0070C0"/>
                </a:solidFill>
              </a:rPr>
              <a:t>Same</a:t>
            </a:r>
            <a:r>
              <a:rPr lang="fr-FR" sz="1600" dirty="0">
                <a:solidFill>
                  <a:srgbClr val="0070C0"/>
                </a:solidFill>
              </a:rPr>
              <a:t> class, </a:t>
            </a:r>
            <a:r>
              <a:rPr lang="fr-FR" sz="1600" dirty="0" err="1">
                <a:solidFill>
                  <a:srgbClr val="0070C0"/>
                </a:solidFill>
              </a:rPr>
              <a:t>same</a:t>
            </a:r>
            <a:r>
              <a:rPr lang="fr-FR" sz="1600" dirty="0">
                <a:solidFill>
                  <a:srgbClr val="0070C0"/>
                </a:solidFill>
              </a:rPr>
              <a:t> </a:t>
            </a:r>
            <a:r>
              <a:rPr lang="fr-FR" sz="1600" dirty="0" err="1">
                <a:solidFill>
                  <a:srgbClr val="0070C0"/>
                </a:solidFill>
              </a:rPr>
              <a:t>instructor</a:t>
            </a:r>
            <a:r>
              <a:rPr lang="fr-FR" sz="1600" dirty="0">
                <a:solidFill>
                  <a:srgbClr val="0070C0"/>
                </a:solidFill>
              </a:rPr>
              <a:t> (me), </a:t>
            </a:r>
            <a:r>
              <a:rPr lang="fr-FR" sz="1600" dirty="0" err="1">
                <a:solidFill>
                  <a:srgbClr val="0070C0"/>
                </a:solidFill>
              </a:rPr>
              <a:t>different</a:t>
            </a:r>
            <a:r>
              <a:rPr lang="fr-FR" sz="1600" dirty="0">
                <a:solidFill>
                  <a:srgbClr val="0070C0"/>
                </a:solidFill>
              </a:rPr>
              <a:t> </a:t>
            </a:r>
            <a:r>
              <a:rPr lang="fr-FR" sz="1600" dirty="0" err="1">
                <a:solidFill>
                  <a:srgbClr val="0070C0"/>
                </a:solidFill>
              </a:rPr>
              <a:t>years</a:t>
            </a:r>
            <a:r>
              <a:rPr lang="fr-FR" sz="1600" dirty="0">
                <a:solidFill>
                  <a:srgbClr val="0070C0"/>
                </a:solidFill>
              </a:rPr>
              <a:t>.</a:t>
            </a:r>
            <a:endParaRPr lang="fr-FR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36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A97E9-20AC-EAF4-8466-70CA6869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happened</a:t>
            </a:r>
            <a:r>
              <a:rPr lang="fr-FR" dirty="0"/>
              <a:t>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B987AB-01E0-2449-FAAC-1671DCFC0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UNAM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prestigious</a:t>
            </a:r>
            <a:r>
              <a:rPr lang="fr-FR" dirty="0"/>
              <a:t> </a:t>
            </a:r>
            <a:r>
              <a:rPr lang="fr-FR" dirty="0" err="1"/>
              <a:t>university</a:t>
            </a:r>
            <a:r>
              <a:rPr lang="fr-FR" dirty="0"/>
              <a:t> in the country.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pass</a:t>
            </a:r>
            <a:r>
              <a:rPr lang="fr-FR" dirty="0"/>
              <a:t>, or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take</a:t>
            </a:r>
            <a:r>
              <a:rPr lang="fr-FR" dirty="0"/>
              <a:t> the chance if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meant</a:t>
            </a:r>
            <a:r>
              <a:rPr lang="fr-FR" dirty="0"/>
              <a:t> </a:t>
            </a:r>
            <a:r>
              <a:rPr lang="fr-FR" dirty="0" err="1"/>
              <a:t>bending</a:t>
            </a:r>
            <a:r>
              <a:rPr lang="fr-FR" dirty="0"/>
              <a:t> the </a:t>
            </a:r>
            <a:r>
              <a:rPr lang="fr-FR" dirty="0" err="1"/>
              <a:t>rules</a:t>
            </a:r>
            <a:r>
              <a:rPr lang="fr-FR" dirty="0"/>
              <a:t> a bit?</a:t>
            </a:r>
          </a:p>
          <a:p>
            <a:r>
              <a:rPr lang="fr-FR" dirty="0" err="1"/>
              <a:t>Huge</a:t>
            </a:r>
            <a:r>
              <a:rPr lang="fr-FR" dirty="0"/>
              <a:t> pressure on </a:t>
            </a:r>
            <a:r>
              <a:rPr lang="fr-FR" dirty="0" err="1"/>
              <a:t>young</a:t>
            </a:r>
            <a:r>
              <a:rPr lang="fr-FR" dirty="0"/>
              <a:t> </a:t>
            </a:r>
            <a:r>
              <a:rPr lang="fr-FR" dirty="0" err="1"/>
              <a:t>students</a:t>
            </a:r>
            <a:r>
              <a:rPr lang="fr-FR" dirty="0"/>
              <a:t>.</a:t>
            </a:r>
          </a:p>
          <a:p>
            <a:r>
              <a:rPr lang="fr-FR" dirty="0"/>
              <a:t>Opportunity for a (</a:t>
            </a:r>
            <a:r>
              <a:rPr lang="fr-FR" dirty="0" err="1"/>
              <a:t>much</a:t>
            </a:r>
            <a:r>
              <a:rPr lang="fr-FR" dirty="0"/>
              <a:t>) </a:t>
            </a:r>
            <a:r>
              <a:rPr lang="fr-FR" dirty="0" err="1"/>
              <a:t>better</a:t>
            </a:r>
            <a:r>
              <a:rPr lang="fr-FR" dirty="0"/>
              <a:t> life for </a:t>
            </a:r>
            <a:r>
              <a:rPr lang="fr-FR" dirty="0" err="1"/>
              <a:t>many</a:t>
            </a:r>
            <a:r>
              <a:rPr lang="fr-FR" dirty="0"/>
              <a:t>…</a:t>
            </a:r>
          </a:p>
          <a:p>
            <a:pPr lvl="1"/>
            <a:r>
              <a:rPr lang="fr-FR" dirty="0"/>
              <a:t>167k </a:t>
            </a:r>
            <a:r>
              <a:rPr lang="fr-FR" dirty="0" err="1"/>
              <a:t>students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about 15% of the population of 18 </a:t>
            </a:r>
            <a:r>
              <a:rPr lang="fr-FR" dirty="0" err="1"/>
              <a:t>year</a:t>
            </a:r>
            <a:r>
              <a:rPr lang="fr-FR" dirty="0"/>
              <a:t> </a:t>
            </a:r>
            <a:r>
              <a:rPr lang="fr-FR" dirty="0" err="1"/>
              <a:t>olds</a:t>
            </a:r>
            <a:r>
              <a:rPr lang="fr-FR" dirty="0"/>
              <a:t>. 10% entrance </a:t>
            </a:r>
            <a:r>
              <a:rPr lang="fr-FR" dirty="0" err="1"/>
              <a:t>means</a:t>
            </a:r>
            <a:r>
              <a:rPr lang="fr-FR" dirty="0"/>
              <a:t> UNAM </a:t>
            </a:r>
            <a:r>
              <a:rPr lang="fr-FR" dirty="0" err="1"/>
              <a:t>truly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1%.</a:t>
            </a:r>
          </a:p>
          <a:p>
            <a:pPr lvl="1"/>
            <a:r>
              <a:rPr lang="fr-FR" dirty="0"/>
              <a:t>In 2026: ~200k </a:t>
            </a:r>
            <a:r>
              <a:rPr lang="fr-FR" dirty="0" err="1"/>
              <a:t>undergrads</a:t>
            </a:r>
            <a:r>
              <a:rPr lang="fr-FR" dirty="0"/>
              <a:t> at UC. </a:t>
            </a:r>
            <a:br>
              <a:rPr lang="fr-FR" dirty="0"/>
            </a:br>
            <a:r>
              <a:rPr lang="fr-FR" dirty="0"/>
              <a:t>CA </a:t>
            </a:r>
            <a:r>
              <a:rPr lang="fr-FR" dirty="0" err="1"/>
              <a:t>counts</a:t>
            </a:r>
            <a:r>
              <a:rPr lang="fr-FR" dirty="0"/>
              <a:t> ~3M people </a:t>
            </a:r>
            <a:r>
              <a:rPr lang="fr-FR" dirty="0" err="1"/>
              <a:t>age</a:t>
            </a:r>
            <a:r>
              <a:rPr lang="fr-FR" dirty="0"/>
              <a:t> 15-20.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35E303-165E-07C4-B038-0225E555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232940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0ADBE-D997-BCBA-6469-408F178A9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Challenging</a:t>
            </a:r>
            <a:r>
              <a:rPr lang="fr-FR" dirty="0"/>
              <a:t> </a:t>
            </a:r>
            <a:r>
              <a:rPr lang="fr-FR" dirty="0" err="1"/>
              <a:t>truth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3FCD7F-97F2-D723-74ED-C90B8C1E8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Difficult</a:t>
            </a:r>
            <a:r>
              <a:rPr lang="fr-FR" dirty="0"/>
              <a:t> to </a:t>
            </a:r>
            <a:r>
              <a:rPr lang="fr-FR" dirty="0" err="1"/>
              <a:t>accept</a:t>
            </a:r>
            <a:r>
              <a:rPr lang="fr-FR" dirty="0"/>
              <a:t> for </a:t>
            </a:r>
            <a:r>
              <a:rPr lang="fr-FR" dirty="0" err="1"/>
              <a:t>many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Family</a:t>
            </a:r>
          </a:p>
          <a:p>
            <a:pPr lvl="1"/>
            <a:r>
              <a:rPr lang="fr-FR" dirty="0"/>
              <a:t>Friends</a:t>
            </a:r>
          </a:p>
          <a:p>
            <a:pPr lvl="1"/>
            <a:r>
              <a:rPr lang="fr-FR" dirty="0" err="1"/>
              <a:t>Academics</a:t>
            </a:r>
            <a:endParaRPr lang="fr-FR" dirty="0"/>
          </a:p>
          <a:p>
            <a:r>
              <a:rPr lang="fr-FR" dirty="0"/>
              <a:t>Loss of trust: « </a:t>
            </a:r>
            <a:r>
              <a:rPr lang="fr-FR" dirty="0" err="1"/>
              <a:t>these</a:t>
            </a:r>
            <a:r>
              <a:rPr lang="fr-FR" dirty="0"/>
              <a:t> are the people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 ».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64F0BD-6FA8-49D0-B499-98EFCCA8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905677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8C22DE-B6C3-2CF7-9309-B859194B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Bigger </a:t>
            </a:r>
            <a:r>
              <a:rPr lang="fr-FR" dirty="0" err="1"/>
              <a:t>picture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1A880F-0C0D-7040-D771-32AE3D453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The </a:t>
            </a:r>
            <a:r>
              <a:rPr lang="fr-FR" sz="2400" dirty="0" err="1"/>
              <a:t>origin</a:t>
            </a:r>
            <a:r>
              <a:rPr lang="fr-FR" sz="2400" dirty="0"/>
              <a:t> of the </a:t>
            </a:r>
            <a:r>
              <a:rPr lang="fr-FR" sz="2400" dirty="0" err="1"/>
              <a:t>scandal</a:t>
            </a:r>
            <a:r>
              <a:rPr lang="fr-FR" sz="2400" dirty="0"/>
              <a:t> </a:t>
            </a:r>
            <a:r>
              <a:rPr lang="fr-FR" sz="2400" dirty="0" err="1"/>
              <a:t>was</a:t>
            </a:r>
            <a:r>
              <a:rPr lang="fr-FR" sz="2400" dirty="0"/>
              <a:t> UNAM </a:t>
            </a:r>
            <a:r>
              <a:rPr lang="fr-FR" sz="2400" dirty="0" err="1"/>
              <a:t>publishing</a:t>
            </a:r>
            <a:r>
              <a:rPr lang="fr-FR" sz="2400" dirty="0"/>
              <a:t> </a:t>
            </a:r>
            <a:r>
              <a:rPr lang="fr-FR" sz="2400" dirty="0" err="1"/>
              <a:t>results</a:t>
            </a:r>
            <a:endParaRPr lang="fr-FR" sz="2400" dirty="0"/>
          </a:p>
          <a:p>
            <a:pPr lvl="1"/>
            <a:r>
              <a:rPr lang="fr-FR" sz="2100" dirty="0"/>
              <a:t>Other exams </a:t>
            </a:r>
            <a:r>
              <a:rPr lang="fr-FR" sz="2100" dirty="0" err="1"/>
              <a:t>happened</a:t>
            </a:r>
            <a:r>
              <a:rPr lang="fr-FR" sz="2100" dirty="0"/>
              <a:t> </a:t>
            </a:r>
            <a:r>
              <a:rPr lang="fr-FR" sz="2100" dirty="0" err="1"/>
              <a:t>earlier</a:t>
            </a:r>
            <a:r>
              <a:rPr lang="fr-FR" sz="2100" dirty="0"/>
              <a:t> </a:t>
            </a:r>
            <a:r>
              <a:rPr lang="fr-FR" sz="2100" dirty="0" err="1"/>
              <a:t>this</a:t>
            </a:r>
            <a:r>
              <a:rPr lang="fr-FR" sz="2100" dirty="0"/>
              <a:t> </a:t>
            </a:r>
            <a:r>
              <a:rPr lang="fr-FR" sz="2100" dirty="0" err="1"/>
              <a:t>year</a:t>
            </a:r>
            <a:r>
              <a:rPr lang="fr-FR" sz="2100" dirty="0"/>
              <a:t> </a:t>
            </a:r>
            <a:r>
              <a:rPr lang="fr-FR" sz="2100" dirty="0" err="1"/>
              <a:t>with</a:t>
            </a:r>
            <a:r>
              <a:rPr lang="fr-FR" sz="2100" dirty="0"/>
              <a:t> </a:t>
            </a:r>
            <a:r>
              <a:rPr lang="fr-FR" sz="2100" dirty="0" err="1"/>
              <a:t>similar</a:t>
            </a:r>
            <a:r>
              <a:rPr lang="fr-FR" sz="2100" dirty="0"/>
              <a:t> issues</a:t>
            </a:r>
          </a:p>
          <a:p>
            <a:r>
              <a:rPr lang="fr-FR" sz="2400" dirty="0"/>
              <a:t>This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just</a:t>
            </a:r>
            <a:r>
              <a:rPr lang="fr-FR" sz="2400" dirty="0"/>
              <a:t> one </a:t>
            </a:r>
            <a:r>
              <a:rPr lang="fr-FR" sz="2400" dirty="0" err="1"/>
              <a:t>measurement</a:t>
            </a:r>
            <a:r>
              <a:rPr lang="fr-FR" sz="2400" dirty="0"/>
              <a:t>. The </a:t>
            </a:r>
            <a:r>
              <a:rPr lang="fr-FR" sz="2400" dirty="0" err="1"/>
              <a:t>same</a:t>
            </a:r>
            <a:r>
              <a:rPr lang="fr-FR" sz="2400" dirty="0"/>
              <a:t> can </a:t>
            </a:r>
            <a:r>
              <a:rPr lang="fr-FR" sz="2400" dirty="0" err="1"/>
              <a:t>happen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any</a:t>
            </a:r>
            <a:r>
              <a:rPr lang="fr-FR" sz="2400" dirty="0"/>
              <a:t> exam at </a:t>
            </a:r>
            <a:r>
              <a:rPr lang="fr-FR" sz="2400" dirty="0" err="1"/>
              <a:t>any</a:t>
            </a:r>
            <a:r>
              <a:rPr lang="fr-FR" sz="2400" dirty="0"/>
              <a:t> institution and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any</a:t>
            </a:r>
            <a:r>
              <a:rPr lang="fr-FR" sz="2400" dirty="0"/>
              <a:t> </a:t>
            </a:r>
            <a:r>
              <a:rPr lang="fr-FR" sz="2400" dirty="0" err="1"/>
              <a:t>takers</a:t>
            </a:r>
            <a:r>
              <a:rPr lang="fr-FR" sz="2400" dirty="0"/>
              <a:t>.</a:t>
            </a:r>
          </a:p>
          <a:p>
            <a:r>
              <a:rPr lang="fr-FR" sz="2400" dirty="0" err="1"/>
              <a:t>My</a:t>
            </a:r>
            <a:r>
              <a:rPr lang="fr-FR" sz="2400" dirty="0"/>
              <a:t> (</a:t>
            </a:r>
            <a:r>
              <a:rPr lang="fr-FR" sz="2400" dirty="0" err="1"/>
              <a:t>pessimistic</a:t>
            </a:r>
            <a:r>
              <a:rPr lang="fr-FR" sz="2400" dirty="0"/>
              <a:t>) </a:t>
            </a:r>
            <a:r>
              <a:rPr lang="fr-FR" sz="2400" dirty="0" err="1"/>
              <a:t>takeways</a:t>
            </a:r>
            <a:r>
              <a:rPr lang="fr-FR" sz="2400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 err="1"/>
              <a:t>Ethics</a:t>
            </a:r>
            <a:r>
              <a:rPr lang="fr-FR" sz="2000" dirty="0"/>
              <a:t> and </a:t>
            </a:r>
            <a:r>
              <a:rPr lang="fr-FR" sz="2000" dirty="0" err="1"/>
              <a:t>integrity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NOT a </a:t>
            </a:r>
            <a:r>
              <a:rPr lang="fr-FR" sz="2000" dirty="0" err="1"/>
              <a:t>granted</a:t>
            </a:r>
            <a:r>
              <a:rPr lang="fr-FR" sz="20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It </a:t>
            </a:r>
            <a:r>
              <a:rPr lang="fr-FR" sz="2000" dirty="0" err="1"/>
              <a:t>is</a:t>
            </a:r>
            <a:r>
              <a:rPr lang="fr-FR" sz="2000" dirty="0"/>
              <a:t> time to </a:t>
            </a:r>
            <a:r>
              <a:rPr lang="fr-FR" sz="2000" dirty="0" err="1"/>
              <a:t>rethink</a:t>
            </a:r>
            <a:r>
              <a:rPr lang="fr-FR" sz="2000" dirty="0"/>
              <a:t> </a:t>
            </a:r>
            <a:r>
              <a:rPr lang="fr-FR" sz="2000" dirty="0" err="1"/>
              <a:t>our</a:t>
            </a:r>
            <a:r>
              <a:rPr lang="fr-FR" sz="2000" dirty="0"/>
              <a:t> society: are </a:t>
            </a:r>
            <a:r>
              <a:rPr lang="fr-FR" sz="2000" dirty="0" err="1"/>
              <a:t>we</a:t>
            </a:r>
            <a:r>
              <a:rPr lang="fr-FR" sz="2000" dirty="0"/>
              <a:t> </a:t>
            </a:r>
            <a:r>
              <a:rPr lang="fr-FR" sz="2000" dirty="0" err="1"/>
              <a:t>truly</a:t>
            </a:r>
            <a:r>
              <a:rPr lang="fr-FR" sz="2000" dirty="0"/>
              <a:t> OK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this</a:t>
            </a:r>
            <a:r>
              <a:rPr lang="fr-FR" sz="2000" dirty="0"/>
              <a:t>? Sad part: more </a:t>
            </a:r>
            <a:r>
              <a:rPr lang="fr-FR" sz="2000" dirty="0" err="1"/>
              <a:t>cheaters</a:t>
            </a:r>
            <a:r>
              <a:rPr lang="fr-FR" sz="2000" dirty="0"/>
              <a:t> </a:t>
            </a:r>
            <a:r>
              <a:rPr lang="fr-FR" sz="2000" dirty="0" err="1"/>
              <a:t>than</a:t>
            </a:r>
            <a:r>
              <a:rPr lang="fr-FR" sz="2000" dirty="0"/>
              <a:t> places </a:t>
            </a:r>
            <a:r>
              <a:rPr lang="fr-FR" sz="2000" dirty="0" err="1"/>
              <a:t>available</a:t>
            </a:r>
            <a:r>
              <a:rPr lang="fr-FR" sz="2000" dirty="0"/>
              <a:t>. </a:t>
            </a:r>
            <a:r>
              <a:rPr lang="fr-FR" sz="2000" dirty="0" err="1"/>
              <a:t>What</a:t>
            </a:r>
            <a:r>
              <a:rPr lang="fr-FR" sz="2000" dirty="0"/>
              <a:t> </a:t>
            </a:r>
            <a:r>
              <a:rPr lang="fr-FR" sz="2000" dirty="0" err="1"/>
              <a:t>kind</a:t>
            </a:r>
            <a:r>
              <a:rPr lang="fr-FR" sz="2000" dirty="0"/>
              <a:t> of society has an </a:t>
            </a:r>
            <a:r>
              <a:rPr lang="fr-FR" sz="2000" dirty="0" err="1"/>
              <a:t>elite</a:t>
            </a:r>
            <a:r>
              <a:rPr lang="fr-FR" sz="2000" dirty="0"/>
              <a:t> </a:t>
            </a:r>
            <a:r>
              <a:rPr lang="fr-FR" sz="2000" dirty="0" err="1"/>
              <a:t>exclusively</a:t>
            </a:r>
            <a:r>
              <a:rPr lang="fr-FR" sz="2000" dirty="0"/>
              <a:t> </a:t>
            </a:r>
            <a:r>
              <a:rPr lang="fr-FR" sz="2000" dirty="0" err="1"/>
              <a:t>composed</a:t>
            </a:r>
            <a:r>
              <a:rPr lang="fr-FR" sz="2000" dirty="0"/>
              <a:t> of </a:t>
            </a:r>
            <a:r>
              <a:rPr lang="fr-FR" sz="2000" dirty="0" err="1"/>
              <a:t>liars</a:t>
            </a:r>
            <a:r>
              <a:rPr lang="fr-FR" sz="2000" dirty="0"/>
              <a:t> and </a:t>
            </a:r>
            <a:r>
              <a:rPr lang="fr-FR" sz="2000" dirty="0" err="1"/>
              <a:t>cheaters</a:t>
            </a:r>
            <a:r>
              <a:rPr lang="fr-FR" sz="2000" dirty="0"/>
              <a:t>? (</a:t>
            </a:r>
            <a:r>
              <a:rPr lang="fr-FR" sz="2000" i="1" dirty="0" err="1"/>
              <a:t>wink</a:t>
            </a:r>
            <a:r>
              <a:rPr lang="fr-FR" sz="2000" i="1" dirty="0"/>
              <a:t> </a:t>
            </a:r>
            <a:r>
              <a:rPr lang="fr-FR" sz="2000" i="1" dirty="0" err="1"/>
              <a:t>wink</a:t>
            </a:r>
            <a:r>
              <a:rPr lang="fr-FR" sz="200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000" dirty="0"/>
              <a:t>If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the </a:t>
            </a:r>
            <a:r>
              <a:rPr lang="fr-FR" sz="2000" dirty="0" err="1"/>
              <a:t>next</a:t>
            </a:r>
            <a:r>
              <a:rPr lang="fr-FR" sz="2000" dirty="0"/>
              <a:t> </a:t>
            </a:r>
            <a:r>
              <a:rPr lang="fr-FR" sz="2000" dirty="0" err="1"/>
              <a:t>generation</a:t>
            </a:r>
            <a:r>
              <a:rPr lang="fr-FR" sz="2000" dirty="0"/>
              <a:t> of </a:t>
            </a:r>
            <a:r>
              <a:rPr lang="fr-FR" sz="2000" dirty="0" err="1"/>
              <a:t>doctors</a:t>
            </a:r>
            <a:r>
              <a:rPr lang="fr-FR" sz="2000" dirty="0"/>
              <a:t> and surgeons, </a:t>
            </a:r>
            <a:r>
              <a:rPr lang="fr-FR" sz="2000" dirty="0" err="1"/>
              <a:t>better</a:t>
            </a:r>
            <a:r>
              <a:rPr lang="fr-FR" sz="2000" dirty="0"/>
              <a:t> start </a:t>
            </a:r>
            <a:r>
              <a:rPr lang="fr-FR" sz="2000" dirty="0" err="1"/>
              <a:t>eating</a:t>
            </a:r>
            <a:r>
              <a:rPr lang="fr-FR" sz="2000" dirty="0"/>
              <a:t> </a:t>
            </a:r>
            <a:r>
              <a:rPr lang="fr-FR" sz="2000" dirty="0" err="1"/>
              <a:t>healthy</a:t>
            </a:r>
            <a:r>
              <a:rPr lang="fr-FR" sz="2000" dirty="0"/>
              <a:t> and </a:t>
            </a:r>
            <a:r>
              <a:rPr lang="fr-FR" sz="2000" dirty="0" err="1"/>
              <a:t>exercise</a:t>
            </a:r>
            <a:r>
              <a:rPr lang="fr-FR" sz="2000" dirty="0"/>
              <a:t>…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2F6D56-B0CC-4285-36E2-EDB986BC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212119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E639A-82D2-F0C5-06FD-4F68AA18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What’s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B15117-0376-6F28-D639-8AD4B3C8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 err="1"/>
              <a:t>We</a:t>
            </a:r>
            <a:r>
              <a:rPr lang="fr-FR" sz="2400" dirty="0"/>
              <a:t> are the society, </a:t>
            </a:r>
            <a:r>
              <a:rPr lang="fr-FR" sz="2400" dirty="0" err="1"/>
              <a:t>we</a:t>
            </a:r>
            <a:r>
              <a:rPr lang="fr-FR" sz="2400" dirty="0"/>
              <a:t> chose </a:t>
            </a:r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want</a:t>
            </a:r>
            <a:r>
              <a:rPr lang="fr-FR" sz="2400" dirty="0"/>
              <a:t> to </a:t>
            </a:r>
            <a:r>
              <a:rPr lang="fr-FR" sz="2400" dirty="0" err="1"/>
              <a:t>be</a:t>
            </a:r>
            <a:r>
              <a:rPr lang="fr-FR" sz="2400" dirty="0"/>
              <a:t>.</a:t>
            </a:r>
          </a:p>
          <a:p>
            <a:r>
              <a:rPr lang="fr-FR" sz="2400" dirty="0" err="1"/>
              <a:t>Idk</a:t>
            </a:r>
            <a:r>
              <a:rPr lang="fr-FR" sz="2400" dirty="0"/>
              <a:t>, but </a:t>
            </a:r>
            <a:r>
              <a:rPr lang="fr-FR" sz="2400" dirty="0" err="1"/>
              <a:t>below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food</a:t>
            </a:r>
            <a:r>
              <a:rPr lang="fr-FR" sz="2400" dirty="0"/>
              <a:t> for </a:t>
            </a:r>
            <a:r>
              <a:rPr lang="fr-FR" sz="2400" dirty="0" err="1"/>
              <a:t>thoughts</a:t>
            </a:r>
            <a:r>
              <a:rPr lang="fr-FR" sz="2400" dirty="0"/>
              <a:t>.</a:t>
            </a:r>
          </a:p>
          <a:p>
            <a:r>
              <a:rPr lang="fr-FR" sz="2400" dirty="0" err="1"/>
              <a:t>Whose</a:t>
            </a:r>
            <a:r>
              <a:rPr lang="fr-FR" sz="2400" dirty="0"/>
              <a:t> </a:t>
            </a:r>
            <a:r>
              <a:rPr lang="fr-FR" sz="2400" dirty="0" err="1"/>
              <a:t>role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to </a:t>
            </a:r>
            <a:r>
              <a:rPr lang="fr-FR" sz="2400" dirty="0" err="1"/>
              <a:t>teach</a:t>
            </a:r>
            <a:r>
              <a:rPr lang="fr-FR" sz="2400" dirty="0"/>
              <a:t> society </a:t>
            </a:r>
            <a:r>
              <a:rPr lang="fr-FR" sz="2400" dirty="0" err="1"/>
              <a:t>ethics</a:t>
            </a:r>
            <a:r>
              <a:rPr lang="fr-FR" sz="2400" dirty="0"/>
              <a:t> and </a:t>
            </a:r>
            <a:r>
              <a:rPr lang="fr-FR" sz="2400" dirty="0" err="1"/>
              <a:t>integrity</a:t>
            </a:r>
            <a:r>
              <a:rPr lang="fr-FR" sz="2400" dirty="0"/>
              <a:t>?</a:t>
            </a:r>
          </a:p>
          <a:p>
            <a:pPr lvl="1"/>
            <a:r>
              <a:rPr lang="fr-FR" sz="2000" dirty="0" err="1"/>
              <a:t>When</a:t>
            </a:r>
            <a:r>
              <a:rPr lang="fr-FR" sz="2000" dirty="0"/>
              <a:t> and how?</a:t>
            </a:r>
          </a:p>
          <a:p>
            <a:pPr lvl="1"/>
            <a:r>
              <a:rPr lang="fr-FR" sz="2000" dirty="0" err="1"/>
              <a:t>Should</a:t>
            </a:r>
            <a:r>
              <a:rPr lang="fr-FR" sz="2000" dirty="0"/>
              <a:t> </a:t>
            </a:r>
            <a:r>
              <a:rPr lang="fr-FR" sz="2000" dirty="0" err="1"/>
              <a:t>we</a:t>
            </a:r>
            <a:r>
              <a:rPr lang="fr-FR" sz="2000" dirty="0"/>
              <a:t> in the first place?</a:t>
            </a:r>
          </a:p>
          <a:p>
            <a:r>
              <a:rPr lang="fr-FR" sz="2400" dirty="0"/>
              <a:t>How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decide</a:t>
            </a:r>
            <a:r>
              <a:rPr lang="fr-FR" sz="2400" dirty="0"/>
              <a:t> to </a:t>
            </a:r>
            <a:r>
              <a:rPr lang="fr-FR" sz="2400" dirty="0" err="1"/>
              <a:t>make</a:t>
            </a:r>
            <a:r>
              <a:rPr lang="fr-FR" sz="2400" dirty="0"/>
              <a:t> exams </a:t>
            </a:r>
            <a:r>
              <a:rPr lang="fr-FR" sz="2400" dirty="0" err="1"/>
              <a:t>remote</a:t>
            </a:r>
            <a:r>
              <a:rPr lang="fr-FR" sz="2400" dirty="0"/>
              <a:t> or in-</a:t>
            </a:r>
            <a:r>
              <a:rPr lang="fr-FR" sz="2400" dirty="0" err="1"/>
              <a:t>person</a:t>
            </a:r>
            <a:r>
              <a:rPr lang="fr-FR" sz="2400" dirty="0"/>
              <a:t>?</a:t>
            </a:r>
          </a:p>
          <a:p>
            <a:endParaRPr lang="fr-FR" sz="2400" dirty="0"/>
          </a:p>
          <a:p>
            <a:pPr lvl="1"/>
            <a:endParaRPr lang="fr-FR" sz="200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66614B-1A08-DBB4-D9A2-E57C22C1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Credit: @an0wen ; Source: https://github.com/an0wen/ResultadosUNAM</a:t>
            </a:r>
          </a:p>
        </p:txBody>
      </p:sp>
    </p:spTree>
    <p:extLst>
      <p:ext uri="{BB962C8B-B14F-4D97-AF65-F5344CB8AC3E}">
        <p14:creationId xmlns:p14="http://schemas.microsoft.com/office/powerpoint/2010/main" val="931681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B178B33-54A9-DD59-FDA3-BA903530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Disclaimer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7BFC801-163B-69CB-4286-FCFFA69F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This </a:t>
            </a:r>
            <a:r>
              <a:rPr lang="fr-FR" dirty="0" err="1"/>
              <a:t>merely</a:t>
            </a:r>
            <a:r>
              <a:rPr lang="fr-FR" dirty="0"/>
              <a:t> supports the </a:t>
            </a:r>
            <a:r>
              <a:rPr lang="fr-FR" dirty="0" err="1"/>
              <a:t>idea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are 2 populations, one </a:t>
            </a:r>
            <a:r>
              <a:rPr lang="fr-FR" dirty="0" err="1"/>
              <a:t>having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 performance.</a:t>
            </a:r>
          </a:p>
          <a:p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a model, and a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simplistic</a:t>
            </a:r>
            <a:r>
              <a:rPr lang="fr-FR" dirty="0"/>
              <a:t> one.</a:t>
            </a:r>
          </a:p>
          <a:p>
            <a:r>
              <a:rPr lang="fr-FR" dirty="0"/>
              <a:t>This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applies</a:t>
            </a:r>
            <a:r>
              <a:rPr lang="fr-FR" dirty="0"/>
              <a:t> to populations,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anything</a:t>
            </a:r>
            <a:r>
              <a:rPr lang="fr-FR" dirty="0"/>
              <a:t> about </a:t>
            </a:r>
            <a:r>
              <a:rPr lang="fr-FR" dirty="0" err="1"/>
              <a:t>individual</a:t>
            </a:r>
            <a:r>
              <a:rPr lang="fr-FR" dirty="0"/>
              <a:t> performance.</a:t>
            </a:r>
          </a:p>
          <a:p>
            <a:r>
              <a:rPr lang="fr-FR" dirty="0"/>
              <a:t>All code, figures, pptx </a:t>
            </a:r>
            <a:r>
              <a:rPr lang="fr-FR" dirty="0" err="1"/>
              <a:t>is</a:t>
            </a:r>
            <a:r>
              <a:rPr lang="fr-FR" dirty="0"/>
              <a:t> open source:</a:t>
            </a:r>
            <a:br>
              <a:rPr lang="fr-FR" dirty="0"/>
            </a:br>
            <a:r>
              <a:rPr lang="fr-FR" sz="24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fr-FR" sz="24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/an0wen/</a:t>
            </a:r>
            <a:r>
              <a:rPr lang="fr-FR" sz="24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ResultadosUNAM</a:t>
            </a:r>
            <a:endParaRPr lang="fr-FR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91A9314-70CD-CD82-78A4-E7EFA53B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Credit: @an0wen ; Source: https://</a:t>
            </a:r>
            <a:r>
              <a:rPr lang="fr-FR" dirty="0" err="1"/>
              <a:t>github.com</a:t>
            </a:r>
            <a:r>
              <a:rPr lang="fr-FR" dirty="0"/>
              <a:t>/an0wen/</a:t>
            </a:r>
            <a:r>
              <a:rPr lang="fr-FR" dirty="0" err="1"/>
              <a:t>ResultadosUNAM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6962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837D53-5F8B-D951-B90B-B09461A9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(</a:t>
            </a:r>
            <a:r>
              <a:rPr lang="fr-FR" dirty="0" err="1"/>
              <a:t>my</a:t>
            </a:r>
            <a:r>
              <a:rPr lang="fr-FR" dirty="0"/>
              <a:t>) </a:t>
            </a:r>
            <a:r>
              <a:rPr lang="fr-FR" dirty="0" err="1"/>
              <a:t>takeways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E94286-2EA7-E279-7869-29B17B11E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912"/>
            <a:ext cx="7886700" cy="5516088"/>
          </a:xfrm>
        </p:spPr>
        <p:txBody>
          <a:bodyPr>
            <a:normAutofit fontScale="92500" lnSpcReduction="20000"/>
          </a:bodyPr>
          <a:lstStyle/>
          <a:p>
            <a:r>
              <a:rPr lang="fr-FR" sz="1900" dirty="0"/>
              <a:t>UNAM </a:t>
            </a:r>
            <a:r>
              <a:rPr lang="fr-FR" sz="1900" dirty="0" err="1"/>
              <a:t>paid</a:t>
            </a:r>
            <a:r>
              <a:rPr lang="fr-FR" sz="1900" dirty="0"/>
              <a:t> a </a:t>
            </a:r>
            <a:r>
              <a:rPr lang="fr-FR" sz="1900" dirty="0" err="1"/>
              <a:t>huge</a:t>
            </a:r>
            <a:r>
              <a:rPr lang="fr-FR" sz="1900" dirty="0"/>
              <a:t> </a:t>
            </a:r>
            <a:r>
              <a:rPr lang="fr-FR" sz="1900" dirty="0" err="1"/>
              <a:t>price</a:t>
            </a:r>
            <a:r>
              <a:rPr lang="fr-FR" sz="1900" dirty="0"/>
              <a:t> for a </a:t>
            </a:r>
            <a:r>
              <a:rPr lang="fr-FR" sz="1900" dirty="0" err="1"/>
              <a:t>lesson</a:t>
            </a:r>
            <a:r>
              <a:rPr lang="fr-FR" sz="1900" dirty="0"/>
              <a:t> </a:t>
            </a:r>
            <a:r>
              <a:rPr lang="fr-FR" sz="1900" dirty="0" err="1"/>
              <a:t>that</a:t>
            </a:r>
            <a:r>
              <a:rPr lang="fr-FR" sz="1900" dirty="0"/>
              <a:t> </a:t>
            </a:r>
            <a:r>
              <a:rPr lang="fr-FR" sz="1900" dirty="0" err="1"/>
              <a:t>everybody</a:t>
            </a:r>
            <a:r>
              <a:rPr lang="fr-FR" sz="1900" dirty="0"/>
              <a:t> </a:t>
            </a:r>
            <a:r>
              <a:rPr lang="fr-FR" sz="1900" dirty="0" err="1"/>
              <a:t>already</a:t>
            </a:r>
            <a:r>
              <a:rPr lang="fr-FR" sz="1900" dirty="0"/>
              <a:t> </a:t>
            </a:r>
            <a:r>
              <a:rPr lang="fr-FR" sz="1900" dirty="0" err="1"/>
              <a:t>knew</a:t>
            </a:r>
            <a:r>
              <a:rPr lang="fr-FR" sz="1900" dirty="0"/>
              <a:t>. </a:t>
            </a:r>
            <a:r>
              <a:rPr lang="fr-FR" sz="1900" dirty="0" err="1"/>
              <a:t>Anyone</a:t>
            </a:r>
            <a:r>
              <a:rPr lang="fr-FR" sz="1900" dirty="0"/>
              <a:t> </a:t>
            </a:r>
            <a:r>
              <a:rPr lang="fr-FR" sz="1900" dirty="0" err="1"/>
              <a:t>who</a:t>
            </a:r>
            <a:r>
              <a:rPr lang="fr-FR" sz="1900" dirty="0"/>
              <a:t> </a:t>
            </a:r>
            <a:r>
              <a:rPr lang="fr-FR" sz="1900" dirty="0" err="1"/>
              <a:t>was</a:t>
            </a:r>
            <a:r>
              <a:rPr lang="fr-FR" sz="1900" dirty="0"/>
              <a:t> </a:t>
            </a:r>
            <a:r>
              <a:rPr lang="fr-FR" sz="1900" dirty="0" err="1"/>
              <a:t>teaching</a:t>
            </a:r>
            <a:r>
              <a:rPr lang="fr-FR" sz="1900" dirty="0"/>
              <a:t> </a:t>
            </a:r>
            <a:r>
              <a:rPr lang="fr-FR" sz="1900" dirty="0" err="1"/>
              <a:t>during</a:t>
            </a:r>
            <a:r>
              <a:rPr lang="fr-FR" sz="1900" dirty="0"/>
              <a:t> COVID 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myself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included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fr-FR" sz="1900" dirty="0"/>
              <a:t> </a:t>
            </a:r>
            <a:r>
              <a:rPr lang="fr-FR" sz="1900" dirty="0" err="1"/>
              <a:t>knows</a:t>
            </a:r>
            <a:r>
              <a:rPr lang="fr-FR" sz="1900" dirty="0"/>
              <a:t> how </a:t>
            </a:r>
            <a:r>
              <a:rPr lang="fr-FR" sz="1900" dirty="0" err="1"/>
              <a:t>desperate</a:t>
            </a:r>
            <a:r>
              <a:rPr lang="fr-FR" sz="1900" dirty="0"/>
              <a:t> </a:t>
            </a:r>
            <a:r>
              <a:rPr lang="fr-FR" sz="1900" dirty="0" err="1"/>
              <a:t>students</a:t>
            </a:r>
            <a:r>
              <a:rPr lang="fr-FR" sz="1900" dirty="0"/>
              <a:t> are to </a:t>
            </a:r>
            <a:r>
              <a:rPr lang="fr-FR" sz="1900" dirty="0" err="1"/>
              <a:t>get</a:t>
            </a:r>
            <a:r>
              <a:rPr lang="fr-FR" sz="1900" dirty="0"/>
              <a:t> good </a:t>
            </a:r>
            <a:r>
              <a:rPr lang="fr-FR" sz="1900" dirty="0" err="1"/>
              <a:t>results</a:t>
            </a:r>
            <a:r>
              <a:rPr lang="fr-FR" sz="1900" dirty="0"/>
              <a:t>.</a:t>
            </a:r>
          </a:p>
          <a:p>
            <a:r>
              <a:rPr lang="fr-FR" sz="1900" dirty="0"/>
              <a:t>People talk about AI, but </a:t>
            </a:r>
            <a:r>
              <a:rPr lang="fr-FR" sz="1900" dirty="0" err="1"/>
              <a:t>cheating</a:t>
            </a:r>
            <a:r>
              <a:rPr lang="fr-FR" sz="1900" dirty="0"/>
              <a:t> </a:t>
            </a:r>
            <a:r>
              <a:rPr lang="fr-FR" sz="1900" dirty="0" err="1"/>
              <a:t>existed</a:t>
            </a:r>
            <a:r>
              <a:rPr lang="fr-FR" sz="1900" dirty="0"/>
              <a:t> </a:t>
            </a:r>
            <a:r>
              <a:rPr lang="fr-FR" sz="1900" dirty="0" err="1"/>
              <a:t>forever</a:t>
            </a:r>
            <a:r>
              <a:rPr lang="fr-FR" sz="1900" dirty="0"/>
              <a:t>. During COVID, </a:t>
            </a:r>
            <a:r>
              <a:rPr lang="fr-FR" sz="1900" dirty="0" err="1"/>
              <a:t>students</a:t>
            </a:r>
            <a:r>
              <a:rPr lang="fr-FR" sz="1900" dirty="0"/>
              <a:t> </a:t>
            </a:r>
            <a:r>
              <a:rPr lang="fr-FR" sz="1900" dirty="0" err="1"/>
              <a:t>were</a:t>
            </a:r>
            <a:r>
              <a:rPr lang="fr-FR" sz="1900" dirty="0"/>
              <a:t> </a:t>
            </a:r>
            <a:r>
              <a:rPr lang="fr-FR" sz="1900" dirty="0" err="1"/>
              <a:t>looking</a:t>
            </a:r>
            <a:r>
              <a:rPr lang="fr-FR" sz="1900" dirty="0"/>
              <a:t> for </a:t>
            </a:r>
            <a:r>
              <a:rPr lang="fr-FR" sz="1900" dirty="0" err="1"/>
              <a:t>private</a:t>
            </a:r>
            <a:r>
              <a:rPr lang="fr-FR" sz="1900" dirty="0"/>
              <a:t> </a:t>
            </a:r>
            <a:r>
              <a:rPr lang="fr-FR" sz="1900" dirty="0" err="1"/>
              <a:t>tutors</a:t>
            </a:r>
            <a:r>
              <a:rPr lang="fr-FR" sz="1900" dirty="0"/>
              <a:t> for </a:t>
            </a:r>
            <a:r>
              <a:rPr lang="fr-FR" sz="1900" i="1" dirty="0"/>
              <a:t>« help on an </a:t>
            </a:r>
            <a:r>
              <a:rPr lang="fr-FR" sz="1900" i="1" dirty="0" err="1"/>
              <a:t>exercise</a:t>
            </a:r>
            <a:r>
              <a:rPr lang="fr-FR" sz="1900" i="1" dirty="0"/>
              <a:t> in </a:t>
            </a:r>
            <a:r>
              <a:rPr lang="fr-FR" sz="1900" i="1" dirty="0" err="1"/>
              <a:t>limited</a:t>
            </a:r>
            <a:r>
              <a:rPr lang="fr-FR" sz="1900" i="1" dirty="0"/>
              <a:t> time »</a:t>
            </a:r>
            <a:r>
              <a:rPr lang="fr-FR" sz="1900" dirty="0"/>
              <a:t>. </a:t>
            </a:r>
            <a:r>
              <a:rPr lang="fr-FR" sz="1900" dirty="0" err="1"/>
              <a:t>Students</a:t>
            </a:r>
            <a:r>
              <a:rPr lang="fr-FR" sz="1900" dirty="0"/>
              <a:t> </a:t>
            </a:r>
            <a:r>
              <a:rPr lang="fr-FR" sz="1900" dirty="0" err="1"/>
              <a:t>from</a:t>
            </a:r>
            <a:r>
              <a:rPr lang="fr-FR" sz="1900" dirty="0"/>
              <a:t> engineering </a:t>
            </a:r>
            <a:r>
              <a:rPr lang="fr-FR" sz="1900" dirty="0" err="1"/>
              <a:t>schools</a:t>
            </a:r>
            <a:r>
              <a:rPr lang="fr-FR" sz="1900" dirty="0"/>
              <a:t> </a:t>
            </a:r>
            <a:r>
              <a:rPr lang="fr-FR" sz="1900" dirty="0" err="1"/>
              <a:t>were</a:t>
            </a:r>
            <a:r>
              <a:rPr lang="fr-FR" sz="1900" dirty="0"/>
              <a:t> </a:t>
            </a:r>
            <a:r>
              <a:rPr lang="fr-FR" sz="1900" dirty="0" err="1"/>
              <a:t>asking</a:t>
            </a:r>
            <a:r>
              <a:rPr lang="fr-FR" sz="1900" dirty="0"/>
              <a:t> me to </a:t>
            </a:r>
            <a:r>
              <a:rPr lang="fr-FR" sz="1900" dirty="0" err="1"/>
              <a:t>take</a:t>
            </a:r>
            <a:r>
              <a:rPr lang="fr-FR" sz="1900" dirty="0"/>
              <a:t> </a:t>
            </a:r>
            <a:r>
              <a:rPr lang="fr-FR" sz="1900" dirty="0" err="1"/>
              <a:t>their</a:t>
            </a:r>
            <a:r>
              <a:rPr lang="fr-FR" sz="1900" dirty="0"/>
              <a:t> online exam for </a:t>
            </a:r>
            <a:r>
              <a:rPr lang="fr-FR" sz="1900" dirty="0" err="1"/>
              <a:t>them</a:t>
            </a:r>
            <a:r>
              <a:rPr lang="fr-FR" sz="1900" dirty="0"/>
              <a:t> 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it’s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not a joke)</a:t>
            </a:r>
            <a:r>
              <a:rPr lang="fr-FR" sz="1900" dirty="0"/>
              <a:t>.</a:t>
            </a:r>
          </a:p>
          <a:p>
            <a:r>
              <a:rPr lang="fr-FR" sz="1900" dirty="0"/>
              <a:t>I </a:t>
            </a:r>
            <a:r>
              <a:rPr lang="fr-FR" sz="1900" dirty="0" err="1"/>
              <a:t>expected</a:t>
            </a:r>
            <a:r>
              <a:rPr lang="fr-FR" sz="1900" dirty="0"/>
              <a:t> </a:t>
            </a:r>
            <a:r>
              <a:rPr lang="fr-FR" sz="1900" dirty="0" err="1"/>
              <a:t>external</a:t>
            </a:r>
            <a:r>
              <a:rPr lang="fr-FR" sz="1900" dirty="0"/>
              <a:t> help, but I </a:t>
            </a:r>
            <a:r>
              <a:rPr lang="fr-FR" sz="1900" dirty="0" err="1"/>
              <a:t>am</a:t>
            </a:r>
            <a:r>
              <a:rPr lang="fr-FR" sz="1900" dirty="0"/>
              <a:t> </a:t>
            </a:r>
            <a:r>
              <a:rPr lang="fr-FR" sz="1900" b="1" u="sng" dirty="0" err="1">
                <a:solidFill>
                  <a:srgbClr val="C00000"/>
                </a:solidFill>
              </a:rPr>
              <a:t>disappointed</a:t>
            </a:r>
            <a:r>
              <a:rPr lang="fr-FR" sz="1900" b="1" u="sng" dirty="0">
                <a:solidFill>
                  <a:srgbClr val="C00000"/>
                </a:solidFill>
              </a:rPr>
              <a:t> in the </a:t>
            </a:r>
            <a:r>
              <a:rPr lang="fr-FR" sz="1900" b="1" u="sng" dirty="0" err="1">
                <a:solidFill>
                  <a:srgbClr val="C00000"/>
                </a:solidFill>
              </a:rPr>
              <a:t>scale</a:t>
            </a:r>
            <a:r>
              <a:rPr lang="fr-FR" sz="1900" b="1" u="sng" dirty="0">
                <a:solidFill>
                  <a:srgbClr val="C00000"/>
                </a:solidFill>
              </a:rPr>
              <a:t> 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sociology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has 80% of « 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boosted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» grades!!! 453 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students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not </a:t>
            </a:r>
            <a:r>
              <a:rPr lang="fr-FR" sz="1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shown</a:t>
            </a:r>
            <a:r>
              <a:rPr lang="fr-FR" sz="1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on figures)</a:t>
            </a:r>
            <a:r>
              <a:rPr lang="fr-FR" sz="1900" dirty="0"/>
              <a:t>.</a:t>
            </a:r>
          </a:p>
          <a:p>
            <a:r>
              <a:rPr lang="fr-FR" sz="2400" dirty="0" err="1"/>
              <a:t>My</a:t>
            </a:r>
            <a:r>
              <a:rPr lang="fr-FR" sz="2400" dirty="0"/>
              <a:t> conclusions: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300" dirty="0" err="1"/>
              <a:t>Ethics</a:t>
            </a:r>
            <a:r>
              <a:rPr lang="fr-FR" sz="2300" dirty="0"/>
              <a:t> and </a:t>
            </a:r>
            <a:r>
              <a:rPr lang="fr-FR" sz="2300" dirty="0" err="1"/>
              <a:t>integrity</a:t>
            </a:r>
            <a:r>
              <a:rPr lang="fr-FR" sz="2300" dirty="0"/>
              <a:t> </a:t>
            </a:r>
            <a:r>
              <a:rPr lang="fr-FR" sz="2300" dirty="0" err="1"/>
              <a:t>is</a:t>
            </a:r>
            <a:r>
              <a:rPr lang="fr-FR" sz="2300" dirty="0"/>
              <a:t> NOT a </a:t>
            </a:r>
            <a:r>
              <a:rPr lang="fr-FR" sz="2300" dirty="0" err="1"/>
              <a:t>granted</a:t>
            </a:r>
            <a:r>
              <a:rPr lang="fr-FR" sz="2300" dirty="0"/>
              <a:t>. But like </a:t>
            </a:r>
            <a:r>
              <a:rPr lang="fr-FR" sz="2300" dirty="0" err="1"/>
              <a:t>any</a:t>
            </a:r>
            <a:r>
              <a:rPr lang="fr-FR" sz="2300" dirty="0"/>
              <a:t> </a:t>
            </a:r>
            <a:r>
              <a:rPr lang="fr-FR" sz="2300" dirty="0" err="1"/>
              <a:t>skill</a:t>
            </a:r>
            <a:r>
              <a:rPr lang="fr-FR" sz="2300" dirty="0"/>
              <a:t> </a:t>
            </a:r>
            <a:r>
              <a:rPr lang="fr-FR" sz="2300" dirty="0" err="1"/>
              <a:t>it</a:t>
            </a:r>
            <a:r>
              <a:rPr lang="fr-FR" sz="2300" dirty="0"/>
              <a:t> can </a:t>
            </a:r>
            <a:r>
              <a:rPr lang="fr-FR" sz="2300" dirty="0" err="1"/>
              <a:t>be</a:t>
            </a:r>
            <a:r>
              <a:rPr lang="fr-FR" sz="2300" dirty="0"/>
              <a:t> </a:t>
            </a:r>
            <a:r>
              <a:rPr lang="fr-FR" sz="2300" dirty="0" err="1"/>
              <a:t>improved</a:t>
            </a:r>
            <a:r>
              <a:rPr lang="fr-FR" sz="2300" dirty="0"/>
              <a:t>. </a:t>
            </a:r>
            <a:r>
              <a:rPr lang="fr-FR" sz="2300" dirty="0" err="1"/>
              <a:t>Educators</a:t>
            </a:r>
            <a:r>
              <a:rPr lang="fr-FR" sz="2300" dirty="0"/>
              <a:t> must show the </a:t>
            </a:r>
            <a:r>
              <a:rPr lang="fr-FR" sz="2300" dirty="0" err="1"/>
              <a:t>example</a:t>
            </a:r>
            <a:r>
              <a:rPr lang="fr-FR" sz="2300" dirty="0"/>
              <a:t>, and </a:t>
            </a:r>
            <a:r>
              <a:rPr lang="fr-FR" sz="2300" dirty="0" err="1"/>
              <a:t>educatees</a:t>
            </a:r>
            <a:r>
              <a:rPr lang="fr-FR" sz="2300" dirty="0"/>
              <a:t> must do the effort of </a:t>
            </a:r>
            <a:r>
              <a:rPr lang="fr-FR" sz="2300" dirty="0" err="1"/>
              <a:t>following</a:t>
            </a:r>
            <a:r>
              <a:rPr lang="fr-FR" sz="2300" dirty="0"/>
              <a:t> </a:t>
            </a:r>
            <a:r>
              <a:rPr lang="fr-FR" sz="2300" dirty="0" err="1"/>
              <a:t>it</a:t>
            </a:r>
            <a:r>
              <a:rPr lang="fr-FR" sz="23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300" dirty="0"/>
              <a:t>It </a:t>
            </a:r>
            <a:r>
              <a:rPr lang="fr-FR" sz="2300" dirty="0" err="1"/>
              <a:t>is</a:t>
            </a:r>
            <a:r>
              <a:rPr lang="fr-FR" sz="2300" dirty="0"/>
              <a:t> time to </a:t>
            </a:r>
            <a:r>
              <a:rPr lang="fr-FR" sz="2300" dirty="0" err="1"/>
              <a:t>rethink</a:t>
            </a:r>
            <a:r>
              <a:rPr lang="fr-FR" sz="2300" dirty="0"/>
              <a:t> </a:t>
            </a:r>
            <a:r>
              <a:rPr lang="fr-FR" sz="2300" dirty="0" err="1"/>
              <a:t>our</a:t>
            </a:r>
            <a:r>
              <a:rPr lang="fr-FR" sz="2300" dirty="0"/>
              <a:t> society: are </a:t>
            </a:r>
            <a:r>
              <a:rPr lang="fr-FR" sz="2300" dirty="0" err="1"/>
              <a:t>you</a:t>
            </a:r>
            <a:r>
              <a:rPr lang="fr-FR" sz="2300" dirty="0"/>
              <a:t> OK </a:t>
            </a:r>
            <a:r>
              <a:rPr lang="fr-FR" sz="2300" dirty="0" err="1"/>
              <a:t>with</a:t>
            </a:r>
            <a:r>
              <a:rPr lang="fr-FR" sz="2300" dirty="0"/>
              <a:t> a society </a:t>
            </a:r>
            <a:r>
              <a:rPr lang="fr-FR" sz="2300" dirty="0" err="1"/>
              <a:t>where</a:t>
            </a:r>
            <a:r>
              <a:rPr lang="fr-FR" sz="2300" dirty="0"/>
              <a:t> 1 in 3 </a:t>
            </a:r>
            <a:r>
              <a:rPr lang="fr-FR" sz="2300" dirty="0" err="1"/>
              <a:t>person</a:t>
            </a:r>
            <a:r>
              <a:rPr lang="fr-FR" sz="2300" dirty="0"/>
              <a:t> </a:t>
            </a:r>
            <a:r>
              <a:rPr lang="fr-FR" sz="2300" dirty="0" err="1"/>
              <a:t>is</a:t>
            </a:r>
            <a:r>
              <a:rPr lang="fr-FR" sz="2300" dirty="0"/>
              <a:t> a </a:t>
            </a:r>
            <a:r>
              <a:rPr lang="fr-FR" sz="2300" dirty="0" err="1"/>
              <a:t>liar</a:t>
            </a:r>
            <a:r>
              <a:rPr lang="fr-FR" sz="2300" dirty="0"/>
              <a:t>? Are </a:t>
            </a:r>
            <a:r>
              <a:rPr lang="fr-FR" sz="2300" dirty="0" err="1"/>
              <a:t>you</a:t>
            </a:r>
            <a:r>
              <a:rPr lang="fr-FR" sz="2300" dirty="0"/>
              <a:t> OK </a:t>
            </a:r>
            <a:r>
              <a:rPr lang="fr-FR" sz="2300" dirty="0" err="1"/>
              <a:t>with</a:t>
            </a:r>
            <a:r>
              <a:rPr lang="fr-FR" sz="2300" dirty="0"/>
              <a:t> a society </a:t>
            </a:r>
            <a:r>
              <a:rPr lang="fr-FR" sz="2300" dirty="0" err="1"/>
              <a:t>where</a:t>
            </a:r>
            <a:r>
              <a:rPr lang="fr-FR" sz="2300" dirty="0"/>
              <a:t>, </a:t>
            </a:r>
            <a:r>
              <a:rPr lang="fr-FR" sz="2300" dirty="0" err="1"/>
              <a:t>given</a:t>
            </a:r>
            <a:r>
              <a:rPr lang="fr-FR" sz="2300" dirty="0"/>
              <a:t> the chance, 1 in 3 </a:t>
            </a:r>
            <a:r>
              <a:rPr lang="fr-FR" sz="2300" dirty="0" err="1"/>
              <a:t>person</a:t>
            </a:r>
            <a:r>
              <a:rPr lang="fr-FR" sz="2300" dirty="0"/>
              <a:t> </a:t>
            </a:r>
            <a:r>
              <a:rPr lang="fr-FR" sz="2300" dirty="0" err="1"/>
              <a:t>will</a:t>
            </a:r>
            <a:r>
              <a:rPr lang="fr-FR" sz="2300" dirty="0"/>
              <a:t> </a:t>
            </a:r>
            <a:r>
              <a:rPr lang="fr-FR" sz="2300" dirty="0" err="1"/>
              <a:t>steal</a:t>
            </a:r>
            <a:r>
              <a:rPr lang="fr-FR" sz="2300" dirty="0"/>
              <a:t>? The </a:t>
            </a:r>
            <a:r>
              <a:rPr lang="fr-FR" sz="2300" dirty="0" err="1"/>
              <a:t>saddest</a:t>
            </a:r>
            <a:r>
              <a:rPr lang="fr-FR" sz="2300" dirty="0"/>
              <a:t> part </a:t>
            </a:r>
            <a:r>
              <a:rPr lang="fr-FR" sz="2300" dirty="0" err="1"/>
              <a:t>is</a:t>
            </a:r>
            <a:r>
              <a:rPr lang="fr-FR" sz="2300" dirty="0"/>
              <a:t>: in the exams, </a:t>
            </a:r>
            <a:r>
              <a:rPr lang="fr-FR" sz="2300" dirty="0" err="1"/>
              <a:t>there</a:t>
            </a:r>
            <a:r>
              <a:rPr lang="fr-FR" sz="2300" dirty="0"/>
              <a:t> </a:t>
            </a:r>
            <a:r>
              <a:rPr lang="fr-FR" sz="2300" dirty="0" err="1"/>
              <a:t>were</a:t>
            </a:r>
            <a:r>
              <a:rPr lang="fr-FR" sz="2300" dirty="0"/>
              <a:t> more </a:t>
            </a:r>
            <a:r>
              <a:rPr lang="fr-FR" sz="2300" dirty="0" err="1"/>
              <a:t>cheaters</a:t>
            </a:r>
            <a:r>
              <a:rPr lang="fr-FR" sz="2300" dirty="0"/>
              <a:t> </a:t>
            </a:r>
            <a:r>
              <a:rPr lang="fr-FR" sz="2300" dirty="0" err="1"/>
              <a:t>than</a:t>
            </a:r>
            <a:r>
              <a:rPr lang="fr-FR" sz="2300" dirty="0"/>
              <a:t> places </a:t>
            </a:r>
            <a:r>
              <a:rPr lang="fr-FR" sz="2300" dirty="0" err="1"/>
              <a:t>available</a:t>
            </a:r>
            <a:r>
              <a:rPr lang="fr-FR" sz="2300" dirty="0"/>
              <a:t>. Is </a:t>
            </a:r>
            <a:r>
              <a:rPr lang="fr-FR" sz="2300" dirty="0" err="1"/>
              <a:t>this</a:t>
            </a:r>
            <a:r>
              <a:rPr lang="fr-FR" sz="2300" dirty="0"/>
              <a:t> the society </a:t>
            </a:r>
            <a:r>
              <a:rPr lang="fr-FR" sz="2300" dirty="0" err="1"/>
              <a:t>you</a:t>
            </a:r>
            <a:r>
              <a:rPr lang="fr-FR" sz="2300" dirty="0"/>
              <a:t> </a:t>
            </a:r>
            <a:r>
              <a:rPr lang="fr-FR" sz="2300" dirty="0" err="1"/>
              <a:t>want</a:t>
            </a:r>
            <a:r>
              <a:rPr lang="fr-FR" sz="2300" dirty="0"/>
              <a:t> to live in? Do </a:t>
            </a:r>
            <a:r>
              <a:rPr lang="fr-FR" sz="2300" dirty="0" err="1"/>
              <a:t>we</a:t>
            </a:r>
            <a:r>
              <a:rPr lang="fr-FR" sz="2300" dirty="0"/>
              <a:t> not </a:t>
            </a:r>
            <a:r>
              <a:rPr lang="fr-FR" sz="2300" dirty="0" err="1"/>
              <a:t>learn</a:t>
            </a:r>
            <a:r>
              <a:rPr lang="fr-FR" sz="2300" dirty="0"/>
              <a:t> </a:t>
            </a:r>
            <a:r>
              <a:rPr lang="fr-FR" sz="2300" dirty="0" err="1"/>
              <a:t>anything</a:t>
            </a:r>
            <a:r>
              <a:rPr lang="fr-FR" sz="2300" dirty="0"/>
              <a:t> </a:t>
            </a:r>
            <a:r>
              <a:rPr lang="fr-FR" sz="2300" dirty="0" err="1"/>
              <a:t>from</a:t>
            </a:r>
            <a:r>
              <a:rPr lang="fr-FR" sz="2300" dirty="0"/>
              <a:t> (</a:t>
            </a:r>
            <a:r>
              <a:rPr lang="fr-FR" sz="2300" dirty="0" err="1"/>
              <a:t>recent</a:t>
            </a:r>
            <a:r>
              <a:rPr lang="fr-FR" sz="2300" dirty="0"/>
              <a:t>) </a:t>
            </a:r>
            <a:r>
              <a:rPr lang="fr-FR" sz="2300" dirty="0" err="1"/>
              <a:t>history</a:t>
            </a:r>
            <a:r>
              <a:rPr lang="fr-FR" sz="2300" dirty="0"/>
              <a:t>?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300" dirty="0"/>
              <a:t>If </a:t>
            </a:r>
            <a:r>
              <a:rPr lang="fr-FR" sz="2300" dirty="0" err="1"/>
              <a:t>this</a:t>
            </a:r>
            <a:r>
              <a:rPr lang="fr-FR" sz="2300" dirty="0"/>
              <a:t> </a:t>
            </a:r>
            <a:r>
              <a:rPr lang="fr-FR" sz="2300" dirty="0" err="1"/>
              <a:t>is</a:t>
            </a:r>
            <a:r>
              <a:rPr lang="fr-FR" sz="2300" dirty="0"/>
              <a:t> the </a:t>
            </a:r>
            <a:r>
              <a:rPr lang="fr-FR" sz="2300" dirty="0" err="1"/>
              <a:t>next</a:t>
            </a:r>
            <a:r>
              <a:rPr lang="fr-FR" sz="2300" dirty="0"/>
              <a:t> </a:t>
            </a:r>
            <a:r>
              <a:rPr lang="fr-FR" sz="2300" dirty="0" err="1"/>
              <a:t>generation</a:t>
            </a:r>
            <a:r>
              <a:rPr lang="fr-FR" sz="2300" dirty="0"/>
              <a:t> of </a:t>
            </a:r>
            <a:r>
              <a:rPr lang="fr-FR" sz="2300" dirty="0" err="1"/>
              <a:t>doctors</a:t>
            </a:r>
            <a:r>
              <a:rPr lang="fr-FR" sz="2300" dirty="0"/>
              <a:t> and surgeons, </a:t>
            </a:r>
            <a:r>
              <a:rPr lang="fr-FR" sz="2300" dirty="0" err="1"/>
              <a:t>better</a:t>
            </a:r>
            <a:r>
              <a:rPr lang="fr-FR" sz="2300" dirty="0"/>
              <a:t> start </a:t>
            </a:r>
            <a:r>
              <a:rPr lang="fr-FR" sz="2300" dirty="0" err="1"/>
              <a:t>eating</a:t>
            </a:r>
            <a:r>
              <a:rPr lang="fr-FR" sz="2300" dirty="0"/>
              <a:t> </a:t>
            </a:r>
            <a:r>
              <a:rPr lang="fr-FR" sz="2300" dirty="0" err="1"/>
              <a:t>healthy</a:t>
            </a:r>
            <a:r>
              <a:rPr lang="fr-FR" sz="2300" dirty="0"/>
              <a:t> and </a:t>
            </a:r>
            <a:r>
              <a:rPr lang="fr-FR" sz="2300" dirty="0" err="1"/>
              <a:t>exercise</a:t>
            </a:r>
            <a:r>
              <a:rPr lang="fr-FR" sz="2300" dirty="0"/>
              <a:t>…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21C2E5-4CB2-31AA-51ED-E04A394C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Credit: @an0wen ; Source: https://</a:t>
            </a:r>
            <a:r>
              <a:rPr lang="fr-FR" dirty="0" err="1"/>
              <a:t>github.com</a:t>
            </a:r>
            <a:r>
              <a:rPr lang="fr-FR" dirty="0"/>
              <a:t>/an0wen/</a:t>
            </a:r>
            <a:r>
              <a:rPr lang="fr-FR" dirty="0" err="1"/>
              <a:t>ResultadosUNAM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09772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4505</TotalTime>
  <Words>1575</Words>
  <Application>Microsoft Macintosh PowerPoint</Application>
  <PresentationFormat>Affichage à l'écran (4:3)</PresentationFormat>
  <Paragraphs>154</Paragraphs>
  <Slides>21</Slides>
  <Notes>0</Notes>
  <HiddenSlides>2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Thème Office</vt:lpstr>
      <vt:lpstr>Catastrophically great results</vt:lpstr>
      <vt:lpstr>Context</vt:lpstr>
      <vt:lpstr>Source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Did students cheat?</vt:lpstr>
      <vt:lpstr>National scandal: UNAM’s responsibility</vt:lpstr>
      <vt:lpstr>The role of AI</vt:lpstr>
      <vt:lpstr>2020 vs 2021 vs 2022</vt:lpstr>
      <vt:lpstr>What happened?</vt:lpstr>
      <vt:lpstr>Challenging truth</vt:lpstr>
      <vt:lpstr>Bigger picture</vt:lpstr>
      <vt:lpstr>What’s next?</vt:lpstr>
      <vt:lpstr>Disclaimer</vt:lpstr>
      <vt:lpstr>(my) takeways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Aguichine</dc:creator>
  <cp:lastModifiedBy>Artem Aguichine</cp:lastModifiedBy>
  <cp:revision>20</cp:revision>
  <dcterms:created xsi:type="dcterms:W3CDTF">2026-08-01T05:51:35Z</dcterms:created>
  <dcterms:modified xsi:type="dcterms:W3CDTF">2026-08-21T15:32:04Z</dcterms:modified>
</cp:coreProperties>
</file>